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529" r:id="rId2"/>
    <p:sldId id="330" r:id="rId3"/>
    <p:sldId id="383" r:id="rId4"/>
    <p:sldId id="530" r:id="rId5"/>
    <p:sldId id="531" r:id="rId6"/>
    <p:sldId id="532" r:id="rId7"/>
    <p:sldId id="533" r:id="rId8"/>
    <p:sldId id="534" r:id="rId9"/>
    <p:sldId id="484" r:id="rId10"/>
    <p:sldId id="535" r:id="rId11"/>
    <p:sldId id="536" r:id="rId12"/>
    <p:sldId id="537" r:id="rId13"/>
    <p:sldId id="423" r:id="rId14"/>
    <p:sldId id="545" r:id="rId15"/>
    <p:sldId id="546" r:id="rId16"/>
    <p:sldId id="492" r:id="rId17"/>
    <p:sldId id="493" r:id="rId18"/>
    <p:sldId id="494" r:id="rId19"/>
    <p:sldId id="539" r:id="rId20"/>
    <p:sldId id="495" r:id="rId21"/>
    <p:sldId id="548" r:id="rId22"/>
    <p:sldId id="549" r:id="rId23"/>
    <p:sldId id="550" r:id="rId24"/>
    <p:sldId id="496" r:id="rId25"/>
    <p:sldId id="547" r:id="rId26"/>
    <p:sldId id="497" r:id="rId27"/>
    <p:sldId id="498" r:id="rId28"/>
    <p:sldId id="551" r:id="rId29"/>
    <p:sldId id="552" r:id="rId30"/>
    <p:sldId id="544" r:id="rId31"/>
    <p:sldId id="554" r:id="rId32"/>
    <p:sldId id="555" r:id="rId33"/>
    <p:sldId id="556" r:id="rId3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35">
          <p15:clr>
            <a:srgbClr val="A4A3A4"/>
          </p15:clr>
        </p15:guide>
        <p15:guide id="2" pos="11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000"/>
    <a:srgbClr val="FFE389"/>
    <a:srgbClr val="FC922C"/>
    <a:srgbClr val="E75E22"/>
    <a:srgbClr val="FFEDAB"/>
    <a:srgbClr val="CD242B"/>
    <a:srgbClr val="DEB203"/>
    <a:srgbClr val="5FBA0F"/>
    <a:srgbClr val="4F81B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5588" autoAdjust="0"/>
  </p:normalViewPr>
  <p:slideViewPr>
    <p:cSldViewPr>
      <p:cViewPr varScale="1">
        <p:scale>
          <a:sx n="100" d="100"/>
          <a:sy n="100" d="100"/>
        </p:scale>
        <p:origin x="1424" y="176"/>
      </p:cViewPr>
      <p:guideLst>
        <p:guide orient="horz" pos="935"/>
        <p:guide pos="11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32F2FF-E950-4B22-9A88-7B1E5055B9C3}" type="datetimeFigureOut">
              <a:rPr lang="zh-CN" altLang="en-US" smtClean="0"/>
              <a:pPr/>
              <a:t>2020/3/12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F46F20-7861-4E56-87FF-6B60CC2B2FDB}" type="slidenum">
              <a:rPr lang="zh-CN" altLang="en-US" smtClean="0"/>
              <a:pPr/>
              <a:t>‹#›</a:t>
            </a:fld>
            <a:endParaRPr lang="zh-CN" altLang="en-US"/>
          </a:p>
        </p:txBody>
      </p:sp>
    </p:spTree>
    <p:extLst>
      <p:ext uri="{BB962C8B-B14F-4D97-AF65-F5344CB8AC3E}">
        <p14:creationId xmlns:p14="http://schemas.microsoft.com/office/powerpoint/2010/main" val="303783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0F46F20-7861-4E56-87FF-6B60CC2B2FDB}" type="slidenum">
              <a:rPr lang="zh-CN" altLang="en-US" smtClean="0"/>
              <a:pPr/>
              <a:t>26</a:t>
            </a:fld>
            <a:endParaRPr lang="zh-CN" altLang="en-US"/>
          </a:p>
        </p:txBody>
      </p:sp>
    </p:spTree>
    <p:extLst>
      <p:ext uri="{BB962C8B-B14F-4D97-AF65-F5344CB8AC3E}">
        <p14:creationId xmlns:p14="http://schemas.microsoft.com/office/powerpoint/2010/main" val="30254048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0" y="2636912"/>
            <a:ext cx="2051720" cy="1440160"/>
          </a:xfrm>
          <a:prstGeom prst="rect">
            <a:avLst/>
          </a:prstGeom>
          <a:solidFill>
            <a:srgbClr val="CD24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2160240" y="2636912"/>
            <a:ext cx="6983760" cy="1440160"/>
          </a:xfrm>
          <a:prstGeom prst="rect">
            <a:avLst/>
          </a:prstGeom>
          <a:solidFill>
            <a:srgbClr val="E75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1"/>
          <p:cNvSpPr>
            <a:spLocks noGrp="1"/>
          </p:cNvSpPr>
          <p:nvPr>
            <p:ph type="ctrTitle"/>
          </p:nvPr>
        </p:nvSpPr>
        <p:spPr>
          <a:xfrm>
            <a:off x="3281752" y="2983026"/>
            <a:ext cx="5898760" cy="725633"/>
          </a:xfrm>
          <a:prstGeom prst="rect">
            <a:avLst/>
          </a:prstGeom>
        </p:spPr>
        <p:txBody>
          <a:bodyPr anchor="ctr">
            <a:noAutofit/>
          </a:bodyPr>
          <a:lstStyle>
            <a:lvl1pPr algn="l">
              <a:defRPr sz="3600" b="1" baseline="0">
                <a:solidFill>
                  <a:schemeClr val="bg1"/>
                </a:solidFill>
                <a:latin typeface="黑体" panose="02010600030101010101" pitchFamily="2" charset="-122"/>
                <a:ea typeface="黑体" panose="02010600030101010101" pitchFamily="2" charset="-122"/>
              </a:defRPr>
            </a:lvl1pPr>
          </a:lstStyle>
          <a:p>
            <a:r>
              <a:rPr lang="zh-CN" altLang="en-US"/>
              <a:t>单击此处编辑母版标题样式</a:t>
            </a:r>
            <a:endParaRPr lang="zh-CN" altLang="en-US" dirty="0"/>
          </a:p>
        </p:txBody>
      </p:sp>
      <p:pic>
        <p:nvPicPr>
          <p:cNvPr id="11" name="图片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77425" y="2994177"/>
            <a:ext cx="737932" cy="725633"/>
          </a:xfrm>
          <a:prstGeom prst="rect">
            <a:avLst/>
          </a:prstGeom>
        </p:spPr>
      </p:pic>
    </p:spTree>
    <p:extLst>
      <p:ext uri="{BB962C8B-B14F-4D97-AF65-F5344CB8AC3E}">
        <p14:creationId xmlns:p14="http://schemas.microsoft.com/office/powerpoint/2010/main" val="3092295814"/>
      </p:ext>
    </p:extLst>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0" y="2636912"/>
            <a:ext cx="2051720" cy="1440160"/>
          </a:xfrm>
          <a:prstGeom prst="rect">
            <a:avLst/>
          </a:prstGeom>
          <a:solidFill>
            <a:srgbClr val="CD24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2160240" y="2636912"/>
            <a:ext cx="6983760" cy="1440160"/>
          </a:xfrm>
          <a:prstGeom prst="rect">
            <a:avLst/>
          </a:prstGeom>
          <a:solidFill>
            <a:srgbClr val="E75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1"/>
          <p:cNvSpPr>
            <a:spLocks noGrp="1"/>
          </p:cNvSpPr>
          <p:nvPr>
            <p:ph type="ctrTitle"/>
          </p:nvPr>
        </p:nvSpPr>
        <p:spPr>
          <a:xfrm>
            <a:off x="3281752" y="2910011"/>
            <a:ext cx="5898760" cy="893961"/>
          </a:xfrm>
          <a:prstGeom prst="rect">
            <a:avLst/>
          </a:prstGeom>
        </p:spPr>
        <p:txBody>
          <a:bodyPr>
            <a:noAutofit/>
          </a:bodyPr>
          <a:lstStyle>
            <a:lvl1pPr algn="l">
              <a:defRPr sz="3600" b="1" baseline="0">
                <a:solidFill>
                  <a:schemeClr val="bg1"/>
                </a:solidFill>
                <a:latin typeface="黑体" panose="02010600030101010101" pitchFamily="2" charset="-122"/>
                <a:ea typeface="黑体" panose="02010600030101010101" pitchFamily="2"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30062492"/>
      </p:ext>
    </p:extLst>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8172400" y="507713"/>
            <a:ext cx="971599" cy="365125"/>
          </a:xfrm>
          <a:prstGeom prst="rect">
            <a:avLst/>
          </a:prstGeom>
        </p:spPr>
        <p:txBody>
          <a:bodyPr/>
          <a:lstStyle>
            <a:lvl1pPr>
              <a:defRPr>
                <a:solidFill>
                  <a:schemeClr val="bg1"/>
                </a:solidFill>
                <a:latin typeface="+mj-ea"/>
                <a:ea typeface="+mj-ea"/>
              </a:defRPr>
            </a:lvl1pPr>
          </a:lstStyle>
          <a:p>
            <a:pPr algn="ctr"/>
            <a:r>
              <a:rPr lang="en-US" altLang="zh-CN" dirty="0"/>
              <a:t>-</a:t>
            </a:r>
            <a:fld id="{4BF17FCF-D4DA-449D-A468-DDB7E43619E6}" type="slidenum">
              <a:rPr lang="zh-CN" altLang="en-US" smtClean="0"/>
              <a:pPr algn="ctr"/>
              <a:t>‹#›</a:t>
            </a:fld>
            <a:r>
              <a:rPr lang="en-US" altLang="zh-CN" dirty="0"/>
              <a:t>-</a:t>
            </a:r>
            <a:endParaRPr lang="zh-CN" altLang="en-US" dirty="0"/>
          </a:p>
        </p:txBody>
      </p:sp>
    </p:spTree>
    <p:extLst>
      <p:ext uri="{BB962C8B-B14F-4D97-AF65-F5344CB8AC3E}">
        <p14:creationId xmlns:p14="http://schemas.microsoft.com/office/powerpoint/2010/main" val="2736924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命题调研">
    <p:spTree>
      <p:nvGrpSpPr>
        <p:cNvPr id="1" name=""/>
        <p:cNvGrpSpPr/>
        <p:nvPr/>
      </p:nvGrpSpPr>
      <p:grpSpPr>
        <a:xfrm>
          <a:off x="0" y="0"/>
          <a:ext cx="0" cy="0"/>
          <a:chOff x="0" y="0"/>
          <a:chExt cx="0" cy="0"/>
        </a:xfrm>
      </p:grpSpPr>
      <p:sp>
        <p:nvSpPr>
          <p:cNvPr id="7" name="同侧圆角矩形 6">
            <a:hlinkClick r:id="rId2" action="ppaction://hlinksldjump"/>
          </p:cNvPr>
          <p:cNvSpPr/>
          <p:nvPr userDrawn="1"/>
        </p:nvSpPr>
        <p:spPr>
          <a:xfrm>
            <a:off x="3275856" y="538157"/>
            <a:ext cx="1152128" cy="370871"/>
          </a:xfrm>
          <a:prstGeom prst="round2SameRect">
            <a:avLst/>
          </a:prstGeom>
          <a:gradFill flip="none" rotWithShape="1">
            <a:gsLst>
              <a:gs pos="0">
                <a:srgbClr val="FFD85D"/>
              </a:gs>
              <a:gs pos="100000">
                <a:srgbClr val="FFEDA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C00000"/>
                </a:solidFill>
                <a:latin typeface="微软雅黑" panose="020B0503020204020204" pitchFamily="34" charset="-122"/>
                <a:ea typeface="微软雅黑" panose="020B0503020204020204" pitchFamily="34" charset="-122"/>
              </a:rPr>
              <a:t>条目梳理</a:t>
            </a:r>
            <a:endParaRPr lang="zh-CN" altLang="en-US" sz="1400" dirty="0">
              <a:solidFill>
                <a:srgbClr val="C00000"/>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3401285" y="874706"/>
            <a:ext cx="885777" cy="0"/>
          </a:xfrm>
          <a:prstGeom prst="line">
            <a:avLst/>
          </a:prstGeom>
          <a:ln w="19050">
            <a:solidFill>
              <a:srgbClr val="FF8534"/>
            </a:solidFill>
          </a:ln>
        </p:spPr>
        <p:style>
          <a:lnRef idx="1">
            <a:schemeClr val="accent1"/>
          </a:lnRef>
          <a:fillRef idx="0">
            <a:schemeClr val="accent1"/>
          </a:fillRef>
          <a:effectRef idx="0">
            <a:schemeClr val="accent1"/>
          </a:effectRef>
          <a:fontRef idx="minor">
            <a:schemeClr val="tx1"/>
          </a:fontRef>
        </p:style>
      </p:cxnSp>
      <p:sp>
        <p:nvSpPr>
          <p:cNvPr id="10" name="灯片编号占位符 3"/>
          <p:cNvSpPr>
            <a:spLocks noGrp="1"/>
          </p:cNvSpPr>
          <p:nvPr>
            <p:ph type="sldNum" sz="quarter" idx="4"/>
          </p:nvPr>
        </p:nvSpPr>
        <p:spPr>
          <a:xfrm>
            <a:off x="8172400" y="507713"/>
            <a:ext cx="971599" cy="365125"/>
          </a:xfrm>
          <a:prstGeom prst="rect">
            <a:avLst/>
          </a:prstGeom>
        </p:spPr>
        <p:txBody>
          <a:bodyPr/>
          <a:lstStyle>
            <a:lvl1pPr>
              <a:defRPr>
                <a:solidFill>
                  <a:schemeClr val="bg1"/>
                </a:solidFill>
                <a:latin typeface="+mj-ea"/>
                <a:ea typeface="+mj-ea"/>
              </a:defRPr>
            </a:lvl1pPr>
          </a:lstStyle>
          <a:p>
            <a:pPr algn="ctr"/>
            <a:r>
              <a:rPr lang="en-US" altLang="zh-CN" dirty="0"/>
              <a:t>-</a:t>
            </a:r>
            <a:fld id="{4BF17FCF-D4DA-449D-A468-DDB7E43619E6}" type="slidenum">
              <a:rPr lang="zh-CN" altLang="en-US" smtClean="0"/>
              <a:pPr algn="ctr"/>
              <a:t>‹#›</a:t>
            </a:fld>
            <a:r>
              <a:rPr lang="en-US" altLang="zh-CN" dirty="0"/>
              <a:t>-</a:t>
            </a:r>
            <a:endParaRPr lang="zh-CN" altLang="en-US" dirty="0"/>
          </a:p>
        </p:txBody>
      </p:sp>
    </p:spTree>
    <p:extLst>
      <p:ext uri="{BB962C8B-B14F-4D97-AF65-F5344CB8AC3E}">
        <p14:creationId xmlns:p14="http://schemas.microsoft.com/office/powerpoint/2010/main" val="1906614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热点聚焦">
    <p:spTree>
      <p:nvGrpSpPr>
        <p:cNvPr id="1" name=""/>
        <p:cNvGrpSpPr/>
        <p:nvPr/>
      </p:nvGrpSpPr>
      <p:grpSpPr>
        <a:xfrm>
          <a:off x="0" y="0"/>
          <a:ext cx="0" cy="0"/>
          <a:chOff x="0" y="0"/>
          <a:chExt cx="0" cy="0"/>
        </a:xfrm>
      </p:grpSpPr>
      <p:sp>
        <p:nvSpPr>
          <p:cNvPr id="11" name="同侧圆角矩形 10">
            <a:hlinkClick r:id="rId2" action="ppaction://hlinksldjump"/>
          </p:cNvPr>
          <p:cNvSpPr/>
          <p:nvPr userDrawn="1"/>
        </p:nvSpPr>
        <p:spPr>
          <a:xfrm>
            <a:off x="4476825" y="538157"/>
            <a:ext cx="1155417" cy="370871"/>
          </a:xfrm>
          <a:prstGeom prst="round2SameRect">
            <a:avLst/>
          </a:prstGeom>
          <a:gradFill flip="none" rotWithShape="1">
            <a:gsLst>
              <a:gs pos="0">
                <a:srgbClr val="FFD85D"/>
              </a:gs>
              <a:gs pos="100000">
                <a:srgbClr val="FFEDA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C00000"/>
                </a:solidFill>
                <a:latin typeface="微软雅黑" panose="020B0503020204020204" pitchFamily="34" charset="-122"/>
                <a:ea typeface="微软雅黑" panose="020B0503020204020204" pitchFamily="34" charset="-122"/>
              </a:rPr>
              <a:t>随堂演练</a:t>
            </a:r>
            <a:endParaRPr lang="zh-CN" altLang="en-US" sz="1400" dirty="0">
              <a:solidFill>
                <a:srgbClr val="C00000"/>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4597645" y="876904"/>
            <a:ext cx="940217" cy="0"/>
          </a:xfrm>
          <a:prstGeom prst="line">
            <a:avLst/>
          </a:prstGeom>
          <a:ln w="19050">
            <a:solidFill>
              <a:srgbClr val="FF8534"/>
            </a:solidFill>
          </a:ln>
        </p:spPr>
        <p:style>
          <a:lnRef idx="1">
            <a:schemeClr val="accent1"/>
          </a:lnRef>
          <a:fillRef idx="0">
            <a:schemeClr val="accent1"/>
          </a:fillRef>
          <a:effectRef idx="0">
            <a:schemeClr val="accent1"/>
          </a:effectRef>
          <a:fontRef idx="minor">
            <a:schemeClr val="tx1"/>
          </a:fontRef>
        </p:style>
      </p:cxnSp>
      <p:sp>
        <p:nvSpPr>
          <p:cNvPr id="6" name="灯片编号占位符 3"/>
          <p:cNvSpPr>
            <a:spLocks noGrp="1"/>
          </p:cNvSpPr>
          <p:nvPr>
            <p:ph type="sldNum" sz="quarter" idx="4"/>
          </p:nvPr>
        </p:nvSpPr>
        <p:spPr>
          <a:xfrm>
            <a:off x="8172400" y="507713"/>
            <a:ext cx="971599" cy="365125"/>
          </a:xfrm>
          <a:prstGeom prst="rect">
            <a:avLst/>
          </a:prstGeom>
        </p:spPr>
        <p:txBody>
          <a:bodyPr/>
          <a:lstStyle>
            <a:lvl1pPr>
              <a:defRPr>
                <a:solidFill>
                  <a:schemeClr val="bg1"/>
                </a:solidFill>
                <a:latin typeface="+mj-ea"/>
                <a:ea typeface="+mj-ea"/>
              </a:defRPr>
            </a:lvl1pPr>
          </a:lstStyle>
          <a:p>
            <a:pPr algn="ctr"/>
            <a:r>
              <a:rPr lang="en-US" altLang="zh-CN" dirty="0"/>
              <a:t>-</a:t>
            </a:r>
            <a:fld id="{4BF17FCF-D4DA-449D-A468-DDB7E43619E6}" type="slidenum">
              <a:rPr lang="zh-CN" altLang="en-US" smtClean="0"/>
              <a:pPr algn="ctr"/>
              <a:t>‹#›</a:t>
            </a:fld>
            <a:r>
              <a:rPr lang="en-US" altLang="zh-CN" dirty="0"/>
              <a:t>-</a:t>
            </a:r>
            <a:endParaRPr lang="zh-CN" altLang="en-US" dirty="0"/>
          </a:p>
        </p:txBody>
      </p:sp>
    </p:spTree>
    <p:extLst>
      <p:ext uri="{BB962C8B-B14F-4D97-AF65-F5344CB8AC3E}">
        <p14:creationId xmlns:p14="http://schemas.microsoft.com/office/powerpoint/2010/main" val="1737820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典题试做">
    <p:spTree>
      <p:nvGrpSpPr>
        <p:cNvPr id="1" name=""/>
        <p:cNvGrpSpPr/>
        <p:nvPr/>
      </p:nvGrpSpPr>
      <p:grpSpPr>
        <a:xfrm>
          <a:off x="0" y="0"/>
          <a:ext cx="0" cy="0"/>
          <a:chOff x="0" y="0"/>
          <a:chExt cx="0" cy="0"/>
        </a:xfrm>
      </p:grpSpPr>
      <p:sp>
        <p:nvSpPr>
          <p:cNvPr id="10" name="同侧圆角矩形 9">
            <a:hlinkClick r:id="rId2" action="ppaction://hlinksldjump"/>
          </p:cNvPr>
          <p:cNvSpPr/>
          <p:nvPr userDrawn="1"/>
        </p:nvSpPr>
        <p:spPr>
          <a:xfrm>
            <a:off x="5685115" y="538157"/>
            <a:ext cx="1143568" cy="370871"/>
          </a:xfrm>
          <a:prstGeom prst="round2SameRect">
            <a:avLst/>
          </a:prstGeom>
          <a:gradFill flip="none" rotWithShape="1">
            <a:gsLst>
              <a:gs pos="0">
                <a:srgbClr val="FFD85D"/>
              </a:gs>
              <a:gs pos="100000">
                <a:srgbClr val="FFEDA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C00000"/>
                </a:solidFill>
                <a:latin typeface="微软雅黑" panose="020B0503020204020204" pitchFamily="34" charset="-122"/>
                <a:ea typeface="微软雅黑" panose="020B0503020204020204" pitchFamily="34" charset="-122"/>
              </a:rPr>
              <a:t>随堂演练</a:t>
            </a:r>
          </a:p>
        </p:txBody>
      </p:sp>
      <p:cxnSp>
        <p:nvCxnSpPr>
          <p:cNvPr id="11" name="直接连接符 10"/>
          <p:cNvCxnSpPr/>
          <p:nvPr userDrawn="1"/>
        </p:nvCxnSpPr>
        <p:spPr>
          <a:xfrm>
            <a:off x="5821755" y="874706"/>
            <a:ext cx="910485" cy="0"/>
          </a:xfrm>
          <a:prstGeom prst="line">
            <a:avLst/>
          </a:prstGeom>
          <a:ln w="19050">
            <a:solidFill>
              <a:srgbClr val="FF8534"/>
            </a:solidFill>
          </a:ln>
        </p:spPr>
        <p:style>
          <a:lnRef idx="1">
            <a:schemeClr val="accent1"/>
          </a:lnRef>
          <a:fillRef idx="0">
            <a:schemeClr val="accent1"/>
          </a:fillRef>
          <a:effectRef idx="0">
            <a:schemeClr val="accent1"/>
          </a:effectRef>
          <a:fontRef idx="minor">
            <a:schemeClr val="tx1"/>
          </a:fontRef>
        </p:style>
      </p:cxnSp>
      <p:sp>
        <p:nvSpPr>
          <p:cNvPr id="6" name="灯片编号占位符 3"/>
          <p:cNvSpPr>
            <a:spLocks noGrp="1"/>
          </p:cNvSpPr>
          <p:nvPr>
            <p:ph type="sldNum" sz="quarter" idx="4"/>
          </p:nvPr>
        </p:nvSpPr>
        <p:spPr>
          <a:xfrm>
            <a:off x="8172400" y="507713"/>
            <a:ext cx="971599" cy="365125"/>
          </a:xfrm>
          <a:prstGeom prst="rect">
            <a:avLst/>
          </a:prstGeom>
        </p:spPr>
        <p:txBody>
          <a:bodyPr/>
          <a:lstStyle>
            <a:lvl1pPr>
              <a:defRPr>
                <a:solidFill>
                  <a:schemeClr val="bg1"/>
                </a:solidFill>
                <a:latin typeface="+mj-ea"/>
                <a:ea typeface="+mj-ea"/>
              </a:defRPr>
            </a:lvl1pPr>
          </a:lstStyle>
          <a:p>
            <a:pPr algn="ctr"/>
            <a:r>
              <a:rPr lang="en-US" altLang="zh-CN" dirty="0"/>
              <a:t>-</a:t>
            </a:r>
            <a:fld id="{4BF17FCF-D4DA-449D-A468-DDB7E43619E6}" type="slidenum">
              <a:rPr lang="zh-CN" altLang="en-US" smtClean="0"/>
              <a:pPr algn="ctr"/>
              <a:t>‹#›</a:t>
            </a:fld>
            <a:r>
              <a:rPr lang="en-US" altLang="zh-CN" dirty="0"/>
              <a:t>-</a:t>
            </a:r>
            <a:endParaRPr lang="zh-CN" altLang="en-US" dirty="0"/>
          </a:p>
        </p:txBody>
      </p:sp>
    </p:spTree>
    <p:extLst>
      <p:ext uri="{BB962C8B-B14F-4D97-AF65-F5344CB8AC3E}">
        <p14:creationId xmlns:p14="http://schemas.microsoft.com/office/powerpoint/2010/main" val="1999759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创新模拟">
    <p:spTree>
      <p:nvGrpSpPr>
        <p:cNvPr id="1" name=""/>
        <p:cNvGrpSpPr/>
        <p:nvPr/>
      </p:nvGrpSpPr>
      <p:grpSpPr>
        <a:xfrm>
          <a:off x="0" y="0"/>
          <a:ext cx="0" cy="0"/>
          <a:chOff x="0" y="0"/>
          <a:chExt cx="0" cy="0"/>
        </a:xfrm>
      </p:grpSpPr>
      <p:sp>
        <p:nvSpPr>
          <p:cNvPr id="6" name="灯片编号占位符 3"/>
          <p:cNvSpPr>
            <a:spLocks noGrp="1"/>
          </p:cNvSpPr>
          <p:nvPr>
            <p:ph type="sldNum" sz="quarter" idx="4"/>
          </p:nvPr>
        </p:nvSpPr>
        <p:spPr>
          <a:xfrm>
            <a:off x="8172400" y="507713"/>
            <a:ext cx="971599" cy="365125"/>
          </a:xfrm>
          <a:prstGeom prst="rect">
            <a:avLst/>
          </a:prstGeom>
        </p:spPr>
        <p:txBody>
          <a:bodyPr/>
          <a:lstStyle>
            <a:lvl1pPr>
              <a:defRPr>
                <a:solidFill>
                  <a:schemeClr val="bg1"/>
                </a:solidFill>
                <a:latin typeface="+mj-ea"/>
                <a:ea typeface="+mj-ea"/>
              </a:defRPr>
            </a:lvl1pPr>
          </a:lstStyle>
          <a:p>
            <a:pPr algn="ctr"/>
            <a:r>
              <a:rPr lang="en-US" altLang="zh-CN" dirty="0"/>
              <a:t>-</a:t>
            </a:r>
            <a:fld id="{4BF17FCF-D4DA-449D-A468-DDB7E43619E6}" type="slidenum">
              <a:rPr lang="zh-CN" altLang="en-US" smtClean="0"/>
              <a:pPr algn="ctr"/>
              <a:t>‹#›</a:t>
            </a:fld>
            <a:r>
              <a:rPr lang="en-US" altLang="zh-CN" dirty="0"/>
              <a:t>-</a:t>
            </a:r>
            <a:endParaRPr lang="zh-CN" altLang="en-US" dirty="0"/>
          </a:p>
        </p:txBody>
      </p:sp>
    </p:spTree>
    <p:extLst>
      <p:ext uri="{BB962C8B-B14F-4D97-AF65-F5344CB8AC3E}">
        <p14:creationId xmlns:p14="http://schemas.microsoft.com/office/powerpoint/2010/main" val="3538993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 name="灯片编号占位符 3"/>
          <p:cNvSpPr txBox="1">
            <a:spLocks/>
          </p:cNvSpPr>
          <p:nvPr userDrawn="1"/>
        </p:nvSpPr>
        <p:spPr>
          <a:xfrm>
            <a:off x="8172400" y="507713"/>
            <a:ext cx="971599" cy="365125"/>
          </a:xfrm>
          <a:prstGeom prst="rect">
            <a:avLst/>
          </a:prstGeom>
        </p:spPr>
        <p:txBody>
          <a:bodyPr/>
          <a:lstStyle>
            <a:defPPr>
              <a:defRPr lang="zh-CN"/>
            </a:defPPr>
            <a:lvl1pPr marL="0" algn="l" defTabSz="914400" rtl="0" eaLnBrk="1" latinLnBrk="0" hangingPunct="1">
              <a:defRPr sz="1800" kern="1200">
                <a:solidFill>
                  <a:schemeClr val="bg1"/>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a:t>-</a:t>
            </a:r>
            <a:fld id="{4BF17FCF-D4DA-449D-A468-DDB7E43619E6}" type="slidenum">
              <a:rPr lang="zh-CN" altLang="en-US" smtClean="0"/>
              <a:pPr algn="ctr"/>
              <a:t>‹#›</a:t>
            </a:fld>
            <a:r>
              <a:rPr lang="en-US" altLang="zh-CN"/>
              <a:t>-</a:t>
            </a:r>
            <a:endParaRPr lang="zh-CN" altLang="en-US" dirty="0"/>
          </a:p>
        </p:txBody>
      </p:sp>
    </p:spTree>
    <p:extLst>
      <p:ext uri="{BB962C8B-B14F-4D97-AF65-F5344CB8AC3E}">
        <p14:creationId xmlns:p14="http://schemas.microsoft.com/office/powerpoint/2010/main" val="4205714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9" name="灯片编号占位符 3"/>
          <p:cNvSpPr txBox="1">
            <a:spLocks/>
          </p:cNvSpPr>
          <p:nvPr userDrawn="1"/>
        </p:nvSpPr>
        <p:spPr>
          <a:xfrm>
            <a:off x="8172400" y="507713"/>
            <a:ext cx="971599" cy="365125"/>
          </a:xfrm>
          <a:prstGeom prst="rect">
            <a:avLst/>
          </a:prstGeom>
        </p:spPr>
        <p:txBody>
          <a:bodyPr/>
          <a:lstStyle>
            <a:defPPr>
              <a:defRPr lang="zh-CN"/>
            </a:defPPr>
            <a:lvl1pPr marL="0" algn="l" defTabSz="914400" rtl="0" eaLnBrk="1" latinLnBrk="0" hangingPunct="1">
              <a:defRPr sz="1800" kern="1200">
                <a:solidFill>
                  <a:schemeClr val="bg1"/>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t>-</a:t>
            </a:r>
            <a:fld id="{4BF17FCF-D4DA-449D-A468-DDB7E43619E6}" type="slidenum">
              <a:rPr lang="zh-CN" altLang="en-US" smtClean="0"/>
              <a:pPr algn="ctr"/>
              <a:t>‹#›</a:t>
            </a:fld>
            <a:r>
              <a:rPr lang="en-US" altLang="zh-CN" dirty="0"/>
              <a:t>-</a:t>
            </a:r>
            <a:endParaRPr lang="zh-CN" altLang="en-US" dirty="0"/>
          </a:p>
        </p:txBody>
      </p:sp>
    </p:spTree>
    <p:extLst>
      <p:ext uri="{BB962C8B-B14F-4D97-AF65-F5344CB8AC3E}">
        <p14:creationId xmlns:p14="http://schemas.microsoft.com/office/powerpoint/2010/main" val="1635590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
        <p:nvSpPr>
          <p:cNvPr id="9" name="灯片编号占位符 3"/>
          <p:cNvSpPr txBox="1">
            <a:spLocks/>
          </p:cNvSpPr>
          <p:nvPr userDrawn="1"/>
        </p:nvSpPr>
        <p:spPr>
          <a:xfrm>
            <a:off x="8172400" y="507713"/>
            <a:ext cx="971599" cy="365125"/>
          </a:xfrm>
          <a:prstGeom prst="rect">
            <a:avLst/>
          </a:prstGeom>
        </p:spPr>
        <p:txBody>
          <a:bodyPr/>
          <a:lstStyle>
            <a:defPPr>
              <a:defRPr lang="zh-CN"/>
            </a:defPPr>
            <a:lvl1pPr marL="0" algn="l" defTabSz="914400" rtl="0" eaLnBrk="1" latinLnBrk="0" hangingPunct="1">
              <a:defRPr sz="1800" kern="1200">
                <a:solidFill>
                  <a:schemeClr val="bg1"/>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a:t>-</a:t>
            </a:r>
            <a:fld id="{4BF17FCF-D4DA-449D-A468-DDB7E43619E6}" type="slidenum">
              <a:rPr lang="zh-CN" altLang="en-US" smtClean="0"/>
              <a:pPr algn="ctr"/>
              <a:t>‹#›</a:t>
            </a:fld>
            <a:r>
              <a:rPr lang="en-US" altLang="zh-CN"/>
              <a:t>-</a:t>
            </a:r>
            <a:endParaRPr lang="zh-CN" altLang="en-US" dirty="0"/>
          </a:p>
        </p:txBody>
      </p:sp>
    </p:spTree>
    <p:extLst>
      <p:ext uri="{BB962C8B-B14F-4D97-AF65-F5344CB8AC3E}">
        <p14:creationId xmlns:p14="http://schemas.microsoft.com/office/powerpoint/2010/main" val="1071033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s/slide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 Target="../slides/slide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矩形 12"/>
          <p:cNvSpPr/>
          <p:nvPr/>
        </p:nvSpPr>
        <p:spPr>
          <a:xfrm>
            <a:off x="3171825" y="467380"/>
            <a:ext cx="5000575" cy="441340"/>
          </a:xfrm>
          <a:prstGeom prst="rect">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 y="6738378"/>
            <a:ext cx="9157036" cy="128253"/>
          </a:xfrm>
          <a:prstGeom prst="rect">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p:cNvSpPr/>
          <p:nvPr/>
        </p:nvSpPr>
        <p:spPr>
          <a:xfrm>
            <a:off x="8172400" y="467380"/>
            <a:ext cx="971600" cy="441340"/>
          </a:xfrm>
          <a:prstGeom prst="rect">
            <a:avLst/>
          </a:prstGeom>
          <a:solidFill>
            <a:srgbClr val="FC92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433638" y="0"/>
            <a:ext cx="1711621" cy="908720"/>
          </a:xfrm>
          <a:prstGeom prst="rect">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黑体" panose="02010600030101010101" pitchFamily="2" charset="-122"/>
                <a:ea typeface="黑体" panose="02010600030101010101" pitchFamily="2" charset="-122"/>
              </a:rPr>
              <a:t>第一部分</a:t>
            </a:r>
          </a:p>
        </p:txBody>
      </p:sp>
      <p:cxnSp>
        <p:nvCxnSpPr>
          <p:cNvPr id="25" name="直接连接符 24"/>
          <p:cNvCxnSpPr/>
          <p:nvPr/>
        </p:nvCxnSpPr>
        <p:spPr>
          <a:xfrm flipH="1">
            <a:off x="0" y="6727668"/>
            <a:ext cx="9144000" cy="0"/>
          </a:xfrm>
          <a:prstGeom prst="line">
            <a:avLst/>
          </a:prstGeom>
          <a:ln w="12700">
            <a:solidFill>
              <a:srgbClr val="E20000"/>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 y="937527"/>
            <a:ext cx="9144000" cy="36000"/>
          </a:xfrm>
          <a:prstGeom prst="rect">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3235833" y="75617"/>
            <a:ext cx="4339650" cy="369332"/>
          </a:xfrm>
          <a:prstGeom prst="rect">
            <a:avLst/>
          </a:prstGeom>
          <a:noFill/>
        </p:spPr>
        <p:txBody>
          <a:bodyPr wrap="none" rtlCol="0">
            <a:spAutoFit/>
          </a:bodyPr>
          <a:lstStyle/>
          <a:p>
            <a:r>
              <a:rPr lang="en-US" altLang="zh-CN" b="1" dirty="0">
                <a:solidFill>
                  <a:srgbClr val="C00000"/>
                </a:solidFill>
              </a:rPr>
              <a:t>VB</a:t>
            </a:r>
            <a:r>
              <a:rPr lang="zh-CN" altLang="en-US" b="1" dirty="0">
                <a:solidFill>
                  <a:srgbClr val="C00000"/>
                </a:solidFill>
              </a:rPr>
              <a:t>复习</a:t>
            </a:r>
            <a:r>
              <a:rPr lang="en-US" altLang="zh-CN" b="1" dirty="0">
                <a:solidFill>
                  <a:srgbClr val="C00000"/>
                </a:solidFill>
              </a:rPr>
              <a:t>6</a:t>
            </a:r>
            <a:r>
              <a:rPr lang="zh-CN" altLang="en-US" b="1" dirty="0">
                <a:solidFill>
                  <a:srgbClr val="C00000"/>
                </a:solidFill>
              </a:rPr>
              <a:t>　解析、枚举算法及其程序实现</a:t>
            </a:r>
          </a:p>
        </p:txBody>
      </p:sp>
      <p:sp>
        <p:nvSpPr>
          <p:cNvPr id="30" name="同侧圆角矩形 29">
            <a:hlinkClick r:id="rId12" action="ppaction://hlinksldjump" tooltip="点击进入"/>
          </p:cNvPr>
          <p:cNvSpPr/>
          <p:nvPr/>
        </p:nvSpPr>
        <p:spPr>
          <a:xfrm>
            <a:off x="3275856" y="607236"/>
            <a:ext cx="1142743" cy="294545"/>
          </a:xfrm>
          <a:prstGeom prst="round2SameRect">
            <a:avLst/>
          </a:prstGeom>
          <a:gradFill flip="none" rotWithShape="1">
            <a:gsLst>
              <a:gs pos="0">
                <a:srgbClr val="FF8534"/>
              </a:gs>
              <a:gs pos="100000">
                <a:srgbClr val="FFC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C00000"/>
                </a:solidFill>
                <a:latin typeface="微软雅黑" panose="020B0503020204020204" pitchFamily="34" charset="-122"/>
                <a:ea typeface="微软雅黑" panose="020B0503020204020204" pitchFamily="34" charset="-122"/>
              </a:rPr>
              <a:t>条目梳理</a:t>
            </a: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7" name="灯片编号占位符 3"/>
          <p:cNvSpPr>
            <a:spLocks noGrp="1"/>
          </p:cNvSpPr>
          <p:nvPr>
            <p:ph type="sldNum" sz="quarter" idx="4"/>
          </p:nvPr>
        </p:nvSpPr>
        <p:spPr>
          <a:xfrm>
            <a:off x="8374429" y="507713"/>
            <a:ext cx="662067" cy="365125"/>
          </a:xfrm>
          <a:prstGeom prst="rect">
            <a:avLst/>
          </a:prstGeom>
        </p:spPr>
        <p:txBody>
          <a:bodyPr/>
          <a:lstStyle>
            <a:lvl1pPr>
              <a:defRPr>
                <a:solidFill>
                  <a:schemeClr val="bg1"/>
                </a:solidFill>
                <a:latin typeface="+mj-ea"/>
                <a:ea typeface="+mj-ea"/>
              </a:defRPr>
            </a:lvl1pPr>
          </a:lstStyle>
          <a:p>
            <a:fld id="{4BF17FCF-D4DA-449D-A468-DDB7E43619E6}" type="slidenum">
              <a:rPr lang="zh-CN" altLang="en-US" smtClean="0"/>
              <a:pPr/>
              <a:t>‹#›</a:t>
            </a:fld>
            <a:endParaRPr lang="zh-CN" altLang="en-US" dirty="0"/>
          </a:p>
        </p:txBody>
      </p:sp>
      <p:sp>
        <p:nvSpPr>
          <p:cNvPr id="15" name="同侧圆角矩形 14">
            <a:hlinkClick r:id="rId13" action="ppaction://hlinksldjump" tooltip="点击进入"/>
          </p:cNvPr>
          <p:cNvSpPr/>
          <p:nvPr/>
        </p:nvSpPr>
        <p:spPr>
          <a:xfrm>
            <a:off x="4479118" y="607236"/>
            <a:ext cx="1142743" cy="294545"/>
          </a:xfrm>
          <a:prstGeom prst="round2SameRect">
            <a:avLst/>
          </a:prstGeom>
          <a:gradFill flip="none" rotWithShape="1">
            <a:gsLst>
              <a:gs pos="0">
                <a:srgbClr val="FF8534"/>
              </a:gs>
              <a:gs pos="100000">
                <a:srgbClr val="FFC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C00000"/>
                </a:solidFill>
                <a:latin typeface="微软雅黑" panose="020B0503020204020204" pitchFamily="34" charset="-122"/>
                <a:ea typeface="微软雅黑" panose="020B0503020204020204" pitchFamily="34" charset="-122"/>
              </a:rPr>
              <a:t>随堂演练</a:t>
            </a:r>
            <a:endParaRPr lang="zh-CN" altLang="en-US" sz="1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52772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package" Target="../embeddings/Microsoft_Word___.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package" Target="../embeddings/Microsoft_Word___1.docx"/><Relationship Id="rId4" Type="http://schemas.openxmlformats.org/officeDocument/2006/relationships/slide" Target="slide9.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5.emf"/><Relationship Id="rId5" Type="http://schemas.openxmlformats.org/officeDocument/2006/relationships/package" Target="../embeddings/Microsoft_Word___2.docx"/><Relationship Id="rId4" Type="http://schemas.openxmlformats.org/officeDocument/2006/relationships/slide" Target="slide9.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6.emf"/><Relationship Id="rId5" Type="http://schemas.openxmlformats.org/officeDocument/2006/relationships/package" Target="../embeddings/Microsoft_Word___3.docx"/><Relationship Id="rId4" Type="http://schemas.openxmlformats.org/officeDocument/2006/relationships/slide" Target="slide9.xml"/></Relationships>
</file>

<file path=ppt/slides/_rels/slide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14.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15.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16.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17.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18.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19.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20.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image" Target="../media/image7.emf"/><Relationship Id="rId3" Type="http://schemas.openxmlformats.org/officeDocument/2006/relationships/slide" Target="slide13.xml"/><Relationship Id="rId7" Type="http://schemas.openxmlformats.org/officeDocument/2006/relationships/slide" Target="slide20.xml"/><Relationship Id="rId12" Type="http://schemas.openxmlformats.org/officeDocument/2006/relationships/package" Target="../embeddings/Microsoft_Word___4.docx"/><Relationship Id="rId2" Type="http://schemas.openxmlformats.org/officeDocument/2006/relationships/slideLayout" Target="../slideLayouts/slideLayout5.xml"/><Relationship Id="rId1" Type="http://schemas.openxmlformats.org/officeDocument/2006/relationships/vmlDrawing" Target="../drawings/vmlDrawing5.vml"/><Relationship Id="rId6" Type="http://schemas.openxmlformats.org/officeDocument/2006/relationships/slide" Target="slide18.xml"/><Relationship Id="rId11" Type="http://schemas.openxmlformats.org/officeDocument/2006/relationships/slide" Target="slide30.xml"/><Relationship Id="rId5" Type="http://schemas.openxmlformats.org/officeDocument/2006/relationships/slide" Target="slide17.xml"/><Relationship Id="rId10" Type="http://schemas.openxmlformats.org/officeDocument/2006/relationships/slide" Target="slide27.xml"/><Relationship Id="rId4" Type="http://schemas.openxmlformats.org/officeDocument/2006/relationships/slide" Target="slide16.xml"/><Relationship Id="rId9" Type="http://schemas.openxmlformats.org/officeDocument/2006/relationships/slide" Target="slide26.xml"/></Relationships>
</file>

<file path=ppt/slides/_rels/slide21.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22.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23.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24.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25.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26.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13.xml"/><Relationship Id="rId7" Type="http://schemas.openxmlformats.org/officeDocument/2006/relationships/slide" Target="slide20.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slide" Target="slide18.xml"/><Relationship Id="rId11" Type="http://schemas.openxmlformats.org/officeDocument/2006/relationships/slide" Target="slide30.xml"/><Relationship Id="rId5" Type="http://schemas.openxmlformats.org/officeDocument/2006/relationships/slide" Target="slide17.xml"/><Relationship Id="rId10" Type="http://schemas.openxmlformats.org/officeDocument/2006/relationships/slide" Target="slide27.xml"/><Relationship Id="rId4" Type="http://schemas.openxmlformats.org/officeDocument/2006/relationships/slide" Target="slide16.xml"/><Relationship Id="rId9" Type="http://schemas.openxmlformats.org/officeDocument/2006/relationships/slide" Target="slide26.xml"/></Relationships>
</file>

<file path=ppt/slides/_rels/slide27.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image" Target="../media/image8.emf"/><Relationship Id="rId3" Type="http://schemas.openxmlformats.org/officeDocument/2006/relationships/slide" Target="slide13.xml"/><Relationship Id="rId7" Type="http://schemas.openxmlformats.org/officeDocument/2006/relationships/slide" Target="slide20.xml"/><Relationship Id="rId12" Type="http://schemas.openxmlformats.org/officeDocument/2006/relationships/package" Target="../embeddings/Microsoft_Word___5.docx"/><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slide" Target="slide18.xml"/><Relationship Id="rId11" Type="http://schemas.openxmlformats.org/officeDocument/2006/relationships/slide" Target="slide30.xml"/><Relationship Id="rId5" Type="http://schemas.openxmlformats.org/officeDocument/2006/relationships/slide" Target="slide17.xml"/><Relationship Id="rId10" Type="http://schemas.openxmlformats.org/officeDocument/2006/relationships/slide" Target="slide27.xml"/><Relationship Id="rId4" Type="http://schemas.openxmlformats.org/officeDocument/2006/relationships/slide" Target="slide16.xml"/><Relationship Id="rId9" Type="http://schemas.openxmlformats.org/officeDocument/2006/relationships/slide" Target="slide26.xml"/></Relationships>
</file>

<file path=ppt/slides/_rels/slide28.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29.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30.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image" Target="../media/image9.emf"/><Relationship Id="rId3" Type="http://schemas.openxmlformats.org/officeDocument/2006/relationships/slide" Target="slide13.xml"/><Relationship Id="rId7" Type="http://schemas.openxmlformats.org/officeDocument/2006/relationships/slide" Target="slide20.xml"/><Relationship Id="rId12" Type="http://schemas.openxmlformats.org/officeDocument/2006/relationships/package" Target="../embeddings/Microsoft_Word___6.docx"/><Relationship Id="rId2" Type="http://schemas.openxmlformats.org/officeDocument/2006/relationships/slideLayout" Target="../slideLayouts/slideLayout5.xml"/><Relationship Id="rId1" Type="http://schemas.openxmlformats.org/officeDocument/2006/relationships/vmlDrawing" Target="../drawings/vmlDrawing7.vml"/><Relationship Id="rId6" Type="http://schemas.openxmlformats.org/officeDocument/2006/relationships/slide" Target="slide18.xml"/><Relationship Id="rId11" Type="http://schemas.openxmlformats.org/officeDocument/2006/relationships/slide" Target="slide30.xml"/><Relationship Id="rId5" Type="http://schemas.openxmlformats.org/officeDocument/2006/relationships/slide" Target="slide17.xml"/><Relationship Id="rId10" Type="http://schemas.openxmlformats.org/officeDocument/2006/relationships/slide" Target="slide27.xml"/><Relationship Id="rId4" Type="http://schemas.openxmlformats.org/officeDocument/2006/relationships/slide" Target="slide16.xml"/><Relationship Id="rId9" Type="http://schemas.openxmlformats.org/officeDocument/2006/relationships/slide" Target="slide26.xml"/></Relationships>
</file>

<file path=ppt/slides/_rels/slide31.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32.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_rels/slide33.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6.xml"/><Relationship Id="rId7" Type="http://schemas.openxmlformats.org/officeDocument/2006/relationships/slide" Target="slide24.xml"/><Relationship Id="rId2" Type="http://schemas.openxmlformats.org/officeDocument/2006/relationships/slide" Target="slide13.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8.xml"/><Relationship Id="rId10" Type="http://schemas.openxmlformats.org/officeDocument/2006/relationships/slide" Target="slide30.xml"/><Relationship Id="rId4" Type="http://schemas.openxmlformats.org/officeDocument/2006/relationships/slide" Target="slide17.xml"/><Relationship Id="rId9" Type="http://schemas.openxmlformats.org/officeDocument/2006/relationships/slide" Target="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2555776" y="2852936"/>
            <a:ext cx="5328592" cy="809797"/>
          </a:xfrm>
        </p:spPr>
        <p:txBody>
          <a:bodyPr/>
          <a:lstStyle/>
          <a:p>
            <a:r>
              <a:rPr lang="en-US" altLang="zh-CN" sz="3200" dirty="0"/>
              <a:t>VB</a:t>
            </a:r>
            <a:r>
              <a:rPr lang="zh-CN" altLang="en-US" sz="3200" dirty="0"/>
              <a:t>复习</a:t>
            </a:r>
            <a:r>
              <a:rPr lang="en-US" altLang="zh-CN" sz="3200" dirty="0"/>
              <a:t>6</a:t>
            </a:r>
            <a:r>
              <a:rPr lang="zh-CN" altLang="zh-CN" sz="3200" dirty="0"/>
              <a:t>　解析、枚举算法</a:t>
            </a:r>
            <a:br>
              <a:rPr lang="en-US" altLang="zh-CN" sz="3200" dirty="0"/>
            </a:br>
            <a:r>
              <a:rPr lang="zh-CN" altLang="en-US" sz="3200" dirty="0"/>
              <a:t>          </a:t>
            </a:r>
            <a:r>
              <a:rPr lang="zh-CN" altLang="zh-CN" sz="3200" dirty="0"/>
              <a:t>及其程序实现</a:t>
            </a:r>
          </a:p>
        </p:txBody>
      </p:sp>
    </p:spTree>
    <p:extLst>
      <p:ext uri="{BB962C8B-B14F-4D97-AF65-F5344CB8AC3E}">
        <p14:creationId xmlns:p14="http://schemas.microsoft.com/office/powerpoint/2010/main" val="1589879309"/>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1"/>
          <p:cNvSpPr>
            <a:spLocks noGrp="1"/>
          </p:cNvSpPr>
          <p:nvPr>
            <p:ph type="sldNum" sz="quarter" idx="4"/>
          </p:nvPr>
        </p:nvSpPr>
        <p:spPr/>
        <p:txBody>
          <a:bodyPr/>
          <a:lstStyle/>
          <a:p>
            <a:pPr algn="ctr"/>
            <a:r>
              <a:rPr lang="en-US" altLang="zh-CN" dirty="0"/>
              <a:t>-</a:t>
            </a:r>
            <a:fld id="{4BF17FCF-D4DA-449D-A468-DDB7E43619E6}" type="slidenum">
              <a:rPr lang="zh-CN" altLang="en-US" smtClean="0"/>
              <a:pPr algn="ctr"/>
              <a:t>2</a:t>
            </a:fld>
            <a:r>
              <a:rPr lang="en-US" altLang="zh-CN" dirty="0"/>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2392067852"/>
              </p:ext>
            </p:extLst>
          </p:nvPr>
        </p:nvGraphicFramePr>
        <p:xfrm>
          <a:off x="508000" y="2729506"/>
          <a:ext cx="8128000" cy="1652988"/>
        </p:xfrm>
        <a:graphic>
          <a:graphicData uri="http://schemas.openxmlformats.org/presentationml/2006/ole">
            <mc:AlternateContent xmlns:mc="http://schemas.openxmlformats.org/markup-compatibility/2006">
              <mc:Choice xmlns:v="urn:schemas-microsoft-com:vml" Requires="v">
                <p:oleObj spid="_x0000_s1050" name="文档" r:id="rId3" imgW="3957084" imgH="804993" progId="Word.Document.12">
                  <p:embed/>
                </p:oleObj>
              </mc:Choice>
              <mc:Fallback>
                <p:oleObj name="文档" r:id="rId3" imgW="3957084" imgH="804993" progId="Word.Document.12">
                  <p:embed/>
                  <p:pic>
                    <p:nvPicPr>
                      <p:cNvPr id="0" name=""/>
                      <p:cNvPicPr/>
                      <p:nvPr/>
                    </p:nvPicPr>
                    <p:blipFill>
                      <a:blip r:embed="rId4"/>
                      <a:stretch>
                        <a:fillRect/>
                      </a:stretch>
                    </p:blipFill>
                    <p:spPr>
                      <a:xfrm>
                        <a:off x="508000" y="2729506"/>
                        <a:ext cx="8128000" cy="1652988"/>
                      </a:xfrm>
                      <a:prstGeom prst="rect">
                        <a:avLst/>
                      </a:prstGeom>
                    </p:spPr>
                  </p:pic>
                </p:oleObj>
              </mc:Fallback>
            </mc:AlternateContent>
          </a:graphicData>
        </a:graphic>
      </p:graphicFrame>
    </p:spTree>
    <p:extLst>
      <p:ext uri="{BB962C8B-B14F-4D97-AF65-F5344CB8AC3E}">
        <p14:creationId xmlns:p14="http://schemas.microsoft.com/office/powerpoint/2010/main" val="933969546"/>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3</a:t>
            </a:fld>
            <a:r>
              <a:rPr lang="en-US" altLang="zh-CN"/>
              <a:t>-</a:t>
            </a:r>
            <a:endParaRPr lang="zh-CN" altLang="en-US" dirty="0"/>
          </a:p>
        </p:txBody>
      </p:sp>
      <p:sp>
        <p:nvSpPr>
          <p:cNvPr id="3" name="圆角矩形 2">
            <a:hlinkClick r:id="rId3" action="ppaction://hlinksldjump"/>
          </p:cNvPr>
          <p:cNvSpPr/>
          <p:nvPr/>
        </p:nvSpPr>
        <p:spPr>
          <a:xfrm>
            <a:off x="25152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1</a:t>
            </a:r>
            <a:endParaRPr lang="zh-CN" altLang="en-US" sz="1400" dirty="0">
              <a:solidFill>
                <a:srgbClr val="E75E22"/>
              </a:solidFill>
              <a:latin typeface="+mj-ea"/>
              <a:ea typeface="+mj-ea"/>
            </a:endParaRPr>
          </a:p>
        </p:txBody>
      </p:sp>
      <p:sp>
        <p:nvSpPr>
          <p:cNvPr id="4" name="圆角矩形 3">
            <a:hlinkClick r:id="rId4" action="ppaction://hlinksldjump"/>
          </p:cNvPr>
          <p:cNvSpPr/>
          <p:nvPr/>
        </p:nvSpPr>
        <p:spPr>
          <a:xfrm>
            <a:off x="108353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2</a:t>
            </a:r>
            <a:endParaRPr lang="zh-CN" altLang="en-US" sz="1400" dirty="0">
              <a:solidFill>
                <a:schemeClr val="bg1">
                  <a:lumMod val="85000"/>
                </a:schemeClr>
              </a:solidFill>
              <a:latin typeface="+mj-ea"/>
              <a:ea typeface="+mj-ea"/>
            </a:endParaRPr>
          </a:p>
        </p:txBody>
      </p:sp>
      <p:sp>
        <p:nvSpPr>
          <p:cNvPr id="11" name="矩形 10"/>
          <p:cNvSpPr>
            <a:spLocks noChangeAspect="1"/>
          </p:cNvSpPr>
          <p:nvPr/>
        </p:nvSpPr>
        <p:spPr>
          <a:xfrm>
            <a:off x="508000" y="2276872"/>
            <a:ext cx="8128000" cy="2936188"/>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zh-CN" altLang="en-US" sz="2200" b="1">
                <a:solidFill>
                  <a:srgbClr val="000000"/>
                </a:solidFill>
                <a:latin typeface="Times New Roman" panose="02020603050405020304" pitchFamily="18" charset="0"/>
                <a:cs typeface="Times New Roman" panose="02020603050405020304" pitchFamily="18" charset="0"/>
              </a:rPr>
              <a:t>解析算法的程序实现</a:t>
            </a:r>
            <a:endParaRPr lang="en-US" altLang="zh-CN" sz="2200" b="1">
              <a:solidFill>
                <a:srgbClr val="000000"/>
              </a:solidFill>
              <a:latin typeface="Times New Roman" panose="02020603050405020304" pitchFamily="18" charset="0"/>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解析算法是指用解析的方法找出问题的前提条件与所求结果之间关系的数学表达式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并通过表达式的计算来实现问题求解。例如计算</a:t>
            </a:r>
            <a:r>
              <a:rPr lang="en-US" altLang="zh-CN" sz="2200">
                <a:solidFill>
                  <a:srgbClr val="000000"/>
                </a:solidFill>
                <a:latin typeface="Times New Roman" panose="02020603050405020304" pitchFamily="18" charset="0"/>
                <a:cs typeface="Times New Roman" panose="02020603050405020304" pitchFamily="18" charset="0"/>
              </a:rPr>
              <a:t>1+2+3+</a:t>
            </a:r>
            <a:r>
              <a:rPr lang="en-US" altLang="zh-CN" sz="22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+100</a:t>
            </a:r>
            <a:r>
              <a:rPr lang="zh-CN" altLang="zh-CN" sz="2200">
                <a:solidFill>
                  <a:srgbClr val="000000"/>
                </a:solidFill>
                <a:latin typeface="Times New Roman" panose="02020603050405020304" pitchFamily="18" charset="0"/>
                <a:cs typeface="Times New Roman" panose="02020603050405020304" pitchFamily="18" charset="0"/>
              </a:rPr>
              <a:t>的和</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可通过求和公式</a:t>
            </a:r>
            <a:r>
              <a:rPr lang="en-US" altLang="zh-CN" sz="2200">
                <a:solidFill>
                  <a:srgbClr val="000000"/>
                </a:solidFill>
                <a:latin typeface="Times New Roman" panose="02020603050405020304" pitchFamily="18" charset="0"/>
                <a:cs typeface="Times New Roman" panose="02020603050405020304" pitchFamily="18" charset="0"/>
              </a:rPr>
              <a:t>s=   n(n+1)</a:t>
            </a:r>
            <a:r>
              <a:rPr lang="zh-CN" altLang="zh-CN" sz="2200">
                <a:solidFill>
                  <a:srgbClr val="000000"/>
                </a:solidFill>
                <a:latin typeface="Times New Roman" panose="02020603050405020304" pitchFamily="18" charset="0"/>
                <a:cs typeface="Times New Roman" panose="02020603050405020304" pitchFamily="18" charset="0"/>
              </a:rPr>
              <a:t>得到。</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解析算法的程序实现关键是建立正确的数学模型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得出正确的数学计算表达式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并保证计算过程描述的正确性</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用正确合理的</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cs typeface="Times New Roman" panose="02020603050405020304" pitchFamily="18" charset="0"/>
              </a:rPr>
              <a:t>变量、表达式来表示已经得出的数学计算式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3443453927"/>
              </p:ext>
            </p:extLst>
          </p:nvPr>
        </p:nvGraphicFramePr>
        <p:xfrm>
          <a:off x="3084467" y="3481880"/>
          <a:ext cx="5551533" cy="451176"/>
        </p:xfrm>
        <a:graphic>
          <a:graphicData uri="http://schemas.openxmlformats.org/presentationml/2006/ole">
            <mc:AlternateContent xmlns:mc="http://schemas.openxmlformats.org/markup-compatibility/2006">
              <mc:Choice xmlns:v="urn:schemas-microsoft-com:vml" Requires="v">
                <p:oleObj spid="_x0000_s2081" name="文档" r:id="rId5" imgW="3847376" imgH="312353" progId="Word.Document.12">
                  <p:embed/>
                </p:oleObj>
              </mc:Choice>
              <mc:Fallback>
                <p:oleObj name="文档" r:id="rId5" imgW="3847376" imgH="312353" progId="Word.Document.12">
                  <p:embed/>
                  <p:pic>
                    <p:nvPicPr>
                      <p:cNvPr id="0" name=""/>
                      <p:cNvPicPr/>
                      <p:nvPr/>
                    </p:nvPicPr>
                    <p:blipFill>
                      <a:blip r:embed="rId6"/>
                      <a:stretch>
                        <a:fillRect/>
                      </a:stretch>
                    </p:blipFill>
                    <p:spPr>
                      <a:xfrm>
                        <a:off x="3084467" y="3481880"/>
                        <a:ext cx="5551533" cy="451176"/>
                      </a:xfrm>
                      <a:prstGeom prst="rect">
                        <a:avLst/>
                      </a:prstGeom>
                    </p:spPr>
                  </p:pic>
                </p:oleObj>
              </mc:Fallback>
            </mc:AlternateContent>
          </a:graphicData>
        </a:graphic>
      </p:graphicFrame>
    </p:spTree>
    <p:extLst>
      <p:ext uri="{BB962C8B-B14F-4D97-AF65-F5344CB8AC3E}">
        <p14:creationId xmlns:p14="http://schemas.microsoft.com/office/powerpoint/2010/main" val="2532147335"/>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4</a:t>
            </a:fld>
            <a:r>
              <a:rPr lang="en-US" altLang="zh-CN"/>
              <a:t>-</a:t>
            </a:r>
            <a:endParaRPr lang="zh-CN" altLang="en-US" dirty="0"/>
          </a:p>
        </p:txBody>
      </p:sp>
      <p:sp>
        <p:nvSpPr>
          <p:cNvPr id="3" name="圆角矩形 2">
            <a:hlinkClick r:id="rId3" action="ppaction://hlinksldjump"/>
          </p:cNvPr>
          <p:cNvSpPr/>
          <p:nvPr/>
        </p:nvSpPr>
        <p:spPr>
          <a:xfrm>
            <a:off x="25152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1</a:t>
            </a:r>
            <a:endParaRPr lang="zh-CN" altLang="en-US" sz="1400" dirty="0">
              <a:solidFill>
                <a:srgbClr val="E75E22"/>
              </a:solidFill>
              <a:latin typeface="+mj-ea"/>
              <a:ea typeface="+mj-ea"/>
            </a:endParaRPr>
          </a:p>
        </p:txBody>
      </p:sp>
      <p:sp>
        <p:nvSpPr>
          <p:cNvPr id="4" name="圆角矩形 3">
            <a:hlinkClick r:id="rId4" action="ppaction://hlinksldjump"/>
          </p:cNvPr>
          <p:cNvSpPr/>
          <p:nvPr/>
        </p:nvSpPr>
        <p:spPr>
          <a:xfrm>
            <a:off x="108353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2</a:t>
            </a:r>
            <a:endParaRPr lang="zh-CN" altLang="en-US" sz="1400" dirty="0">
              <a:solidFill>
                <a:schemeClr val="bg1">
                  <a:lumMod val="85000"/>
                </a:schemeClr>
              </a:solidFill>
              <a:latin typeface="+mj-ea"/>
              <a:ea typeface="+mj-ea"/>
            </a:endParaRPr>
          </a:p>
        </p:txBody>
      </p:sp>
      <p:sp>
        <p:nvSpPr>
          <p:cNvPr id="5" name="矩形 4"/>
          <p:cNvSpPr>
            <a:spLocks noChangeAspect="1"/>
          </p:cNvSpPr>
          <p:nvPr/>
        </p:nvSpPr>
        <p:spPr>
          <a:xfrm>
            <a:off x="508000" y="1636612"/>
            <a:ext cx="8128000" cy="1678536"/>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200" b="1">
                <a:solidFill>
                  <a:srgbClr val="FF0000"/>
                </a:solidFill>
                <a:latin typeface="Times New Roman" panose="02020603050405020304" pitchFamily="18" charset="0"/>
                <a:cs typeface="Times New Roman" panose="02020603050405020304" pitchFamily="18" charset="0"/>
              </a:rPr>
              <a:t>1</a:t>
            </a: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200">
                <a:solidFill>
                  <a:srgbClr val="FF0000"/>
                </a:solidFill>
                <a:latin typeface="NEU-BZ-S92"/>
                <a:ea typeface="Arial" panose="020B0604020202020204" pitchFamily="34"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研究表明</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人的身高与遗传有很大关系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其中成年男性的身高预测公式为身高</a:t>
            </a:r>
            <a:r>
              <a:rPr lang="en-US" altLang="zh-CN" sz="2200">
                <a:solidFill>
                  <a:srgbClr val="000000"/>
                </a:solidFill>
                <a:latin typeface="Times New Roman" panose="02020603050405020304" pitchFamily="18" charset="0"/>
                <a:cs typeface="Times New Roman" panose="02020603050405020304" pitchFamily="18" charset="0"/>
              </a:rPr>
              <a:t>(cm)=(</a:t>
            </a:r>
            <a:r>
              <a:rPr lang="zh-CN" altLang="zh-CN" sz="2200">
                <a:solidFill>
                  <a:srgbClr val="000000"/>
                </a:solidFill>
                <a:latin typeface="Times New Roman" panose="02020603050405020304" pitchFamily="18" charset="0"/>
                <a:cs typeface="Times New Roman" panose="02020603050405020304" pitchFamily="18" charset="0"/>
              </a:rPr>
              <a:t>父亲身高</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母亲身高</a:t>
            </a:r>
            <a:r>
              <a:rPr lang="en-US" altLang="zh-CN" sz="2200">
                <a:solidFill>
                  <a:srgbClr val="000000"/>
                </a:solidFill>
                <a:latin typeface="Times New Roman" panose="02020603050405020304" pitchFamily="18" charset="0"/>
                <a:cs typeface="Times New Roman" panose="02020603050405020304" pitchFamily="18" charset="0"/>
              </a:rPr>
              <a:t>)*1.08/2,</a:t>
            </a:r>
            <a:r>
              <a:rPr lang="zh-CN" altLang="zh-CN" sz="2200">
                <a:solidFill>
                  <a:srgbClr val="000000"/>
                </a:solidFill>
                <a:latin typeface="Times New Roman" panose="02020603050405020304" pitchFamily="18" charset="0"/>
                <a:cs typeface="Times New Roman" panose="02020603050405020304" pitchFamily="18" charset="0"/>
              </a:rPr>
              <a:t>女性的身高预测公式为身高</a:t>
            </a:r>
            <a:r>
              <a:rPr lang="en-US" altLang="zh-CN" sz="2200">
                <a:solidFill>
                  <a:srgbClr val="000000"/>
                </a:solidFill>
                <a:latin typeface="Times New Roman" panose="02020603050405020304" pitchFamily="18" charset="0"/>
                <a:cs typeface="Times New Roman" panose="02020603050405020304" pitchFamily="18" charset="0"/>
              </a:rPr>
              <a:t>(cm)=(</a:t>
            </a:r>
            <a:r>
              <a:rPr lang="zh-CN" altLang="zh-CN" sz="2200">
                <a:solidFill>
                  <a:srgbClr val="000000"/>
                </a:solidFill>
                <a:latin typeface="Times New Roman" panose="02020603050405020304" pitchFamily="18" charset="0"/>
                <a:cs typeface="Times New Roman" panose="02020603050405020304" pitchFamily="18" charset="0"/>
              </a:rPr>
              <a:t>父亲身高</a:t>
            </a:r>
            <a:r>
              <a:rPr lang="en-US" altLang="zh-CN" sz="2200">
                <a:solidFill>
                  <a:srgbClr val="000000"/>
                </a:solidFill>
                <a:latin typeface="Times New Roman" panose="02020603050405020304" pitchFamily="18" charset="0"/>
                <a:cs typeface="Times New Roman" panose="02020603050405020304" pitchFamily="18" charset="0"/>
              </a:rPr>
              <a:t>*0.923+</a:t>
            </a:r>
            <a:r>
              <a:rPr lang="zh-CN" altLang="zh-CN" sz="2200">
                <a:solidFill>
                  <a:srgbClr val="000000"/>
                </a:solidFill>
                <a:latin typeface="Times New Roman" panose="02020603050405020304" pitchFamily="18" charset="0"/>
                <a:cs typeface="Times New Roman" panose="02020603050405020304" pitchFamily="18" charset="0"/>
              </a:rPr>
              <a:t>母亲身高</a:t>
            </a:r>
            <a:r>
              <a:rPr lang="en-US" altLang="zh-CN" sz="2200">
                <a:solidFill>
                  <a:srgbClr val="000000"/>
                </a:solidFill>
                <a:latin typeface="Times New Roman" panose="02020603050405020304" pitchFamily="18" charset="0"/>
                <a:cs typeface="Times New Roman" panose="02020603050405020304" pitchFamily="18" charset="0"/>
              </a:rPr>
              <a:t>)/2,</a:t>
            </a:r>
            <a:r>
              <a:rPr lang="zh-CN" altLang="zh-CN" sz="2200">
                <a:solidFill>
                  <a:srgbClr val="000000"/>
                </a:solidFill>
                <a:latin typeface="Times New Roman" panose="02020603050405020304" pitchFamily="18" charset="0"/>
                <a:cs typeface="Times New Roman" panose="02020603050405020304" pitchFamily="18" charset="0"/>
              </a:rPr>
              <a:t>具体程序运行界面和算法流程图如下图所示</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56363710"/>
              </p:ext>
            </p:extLst>
          </p:nvPr>
        </p:nvGraphicFramePr>
        <p:xfrm>
          <a:off x="508000" y="3429000"/>
          <a:ext cx="8128000" cy="2192950"/>
        </p:xfrm>
        <a:graphic>
          <a:graphicData uri="http://schemas.openxmlformats.org/presentationml/2006/ole">
            <mc:AlternateContent xmlns:mc="http://schemas.openxmlformats.org/markup-compatibility/2006">
              <mc:Choice xmlns:v="urn:schemas-microsoft-com:vml" Requires="v">
                <p:oleObj spid="_x0000_s3098" name="文档" r:id="rId5" imgW="3847376" imgH="1038898" progId="Word.Document.12">
                  <p:embed/>
                </p:oleObj>
              </mc:Choice>
              <mc:Fallback>
                <p:oleObj name="文档" r:id="rId5" imgW="3847376" imgH="1038898" progId="Word.Document.12">
                  <p:embed/>
                  <p:pic>
                    <p:nvPicPr>
                      <p:cNvPr id="0" name=""/>
                      <p:cNvPicPr/>
                      <p:nvPr/>
                    </p:nvPicPr>
                    <p:blipFill>
                      <a:blip r:embed="rId6"/>
                      <a:stretch>
                        <a:fillRect/>
                      </a:stretch>
                    </p:blipFill>
                    <p:spPr>
                      <a:xfrm>
                        <a:off x="508000" y="3429000"/>
                        <a:ext cx="8128000" cy="2192950"/>
                      </a:xfrm>
                      <a:prstGeom prst="rect">
                        <a:avLst/>
                      </a:prstGeom>
                    </p:spPr>
                  </p:pic>
                </p:oleObj>
              </mc:Fallback>
            </mc:AlternateContent>
          </a:graphicData>
        </a:graphic>
      </p:graphicFrame>
    </p:spTree>
    <p:extLst>
      <p:ext uri="{BB962C8B-B14F-4D97-AF65-F5344CB8AC3E}">
        <p14:creationId xmlns:p14="http://schemas.microsoft.com/office/powerpoint/2010/main" val="182864809"/>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5</a:t>
            </a:fld>
            <a:r>
              <a:rPr lang="en-US" altLang="zh-CN"/>
              <a:t>-</a:t>
            </a:r>
            <a:endParaRPr lang="zh-CN" altLang="en-US" dirty="0"/>
          </a:p>
        </p:txBody>
      </p:sp>
      <p:sp>
        <p:nvSpPr>
          <p:cNvPr id="3" name="圆角矩形 2">
            <a:hlinkClick r:id="rId3" action="ppaction://hlinksldjump"/>
          </p:cNvPr>
          <p:cNvSpPr/>
          <p:nvPr/>
        </p:nvSpPr>
        <p:spPr>
          <a:xfrm>
            <a:off x="25152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1</a:t>
            </a:r>
            <a:endParaRPr lang="zh-CN" altLang="en-US" sz="1400" dirty="0">
              <a:solidFill>
                <a:srgbClr val="E75E22"/>
              </a:solidFill>
              <a:latin typeface="+mj-ea"/>
              <a:ea typeface="+mj-ea"/>
            </a:endParaRPr>
          </a:p>
        </p:txBody>
      </p:sp>
      <p:sp>
        <p:nvSpPr>
          <p:cNvPr id="4" name="圆角矩形 3">
            <a:hlinkClick r:id="rId4" action="ppaction://hlinksldjump"/>
          </p:cNvPr>
          <p:cNvSpPr/>
          <p:nvPr/>
        </p:nvSpPr>
        <p:spPr>
          <a:xfrm>
            <a:off x="108353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2</a:t>
            </a:r>
            <a:endParaRPr lang="zh-CN" altLang="en-US" sz="1400" dirty="0">
              <a:solidFill>
                <a:schemeClr val="bg1">
                  <a:lumMod val="85000"/>
                </a:schemeClr>
              </a:solidFill>
              <a:latin typeface="+mj-ea"/>
              <a:ea typeface="+mj-ea"/>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16611454"/>
              </p:ext>
            </p:extLst>
          </p:nvPr>
        </p:nvGraphicFramePr>
        <p:xfrm>
          <a:off x="508000" y="1484313"/>
          <a:ext cx="8128000" cy="4610562"/>
        </p:xfrm>
        <a:graphic>
          <a:graphicData uri="http://schemas.openxmlformats.org/presentationml/2006/ole">
            <mc:AlternateContent xmlns:mc="http://schemas.openxmlformats.org/markup-compatibility/2006">
              <mc:Choice xmlns:v="urn:schemas-microsoft-com:vml" Requires="v">
                <p:oleObj spid="_x0000_s4122" name="文档" r:id="rId5" imgW="3847376" imgH="2182154" progId="Word.Document.12">
                  <p:embed/>
                </p:oleObj>
              </mc:Choice>
              <mc:Fallback>
                <p:oleObj name="文档" r:id="rId5" imgW="3847376" imgH="2182154" progId="Word.Document.12">
                  <p:embed/>
                  <p:pic>
                    <p:nvPicPr>
                      <p:cNvPr id="0" name=""/>
                      <p:cNvPicPr/>
                      <p:nvPr/>
                    </p:nvPicPr>
                    <p:blipFill>
                      <a:blip r:embed="rId6"/>
                      <a:stretch>
                        <a:fillRect/>
                      </a:stretch>
                    </p:blipFill>
                    <p:spPr>
                      <a:xfrm>
                        <a:off x="508000" y="1484313"/>
                        <a:ext cx="8128000" cy="4610562"/>
                      </a:xfrm>
                      <a:prstGeom prst="rect">
                        <a:avLst/>
                      </a:prstGeom>
                    </p:spPr>
                  </p:pic>
                </p:oleObj>
              </mc:Fallback>
            </mc:AlternateContent>
          </a:graphicData>
        </a:graphic>
      </p:graphicFrame>
    </p:spTree>
    <p:extLst>
      <p:ext uri="{BB962C8B-B14F-4D97-AF65-F5344CB8AC3E}">
        <p14:creationId xmlns:p14="http://schemas.microsoft.com/office/powerpoint/2010/main" val="2133454007"/>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6</a:t>
            </a:fld>
            <a:r>
              <a:rPr lang="en-US" altLang="zh-CN"/>
              <a:t>-</a:t>
            </a:r>
            <a:endParaRPr lang="zh-CN" altLang="en-US" dirty="0"/>
          </a:p>
        </p:txBody>
      </p:sp>
      <p:sp>
        <p:nvSpPr>
          <p:cNvPr id="3" name="圆角矩形 2">
            <a:hlinkClick r:id="rId2" action="ppaction://hlinksldjump"/>
          </p:cNvPr>
          <p:cNvSpPr/>
          <p:nvPr/>
        </p:nvSpPr>
        <p:spPr>
          <a:xfrm>
            <a:off x="25152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1</a:t>
            </a:r>
            <a:endParaRPr lang="zh-CN" altLang="en-US" sz="1400" dirty="0">
              <a:solidFill>
                <a:srgbClr val="E75E22"/>
              </a:solidFill>
              <a:latin typeface="+mj-ea"/>
              <a:ea typeface="+mj-ea"/>
            </a:endParaRPr>
          </a:p>
        </p:txBody>
      </p:sp>
      <p:sp>
        <p:nvSpPr>
          <p:cNvPr id="4" name="圆角矩形 3">
            <a:hlinkClick r:id="rId3" action="ppaction://hlinksldjump"/>
          </p:cNvPr>
          <p:cNvSpPr/>
          <p:nvPr/>
        </p:nvSpPr>
        <p:spPr>
          <a:xfrm>
            <a:off x="108353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2</a:t>
            </a:r>
            <a:endParaRPr lang="zh-CN" altLang="en-US" sz="1400" dirty="0">
              <a:solidFill>
                <a:schemeClr val="bg1">
                  <a:lumMod val="85000"/>
                </a:schemeClr>
              </a:solidFill>
              <a:latin typeface="+mj-ea"/>
              <a:ea typeface="+mj-ea"/>
            </a:endParaRPr>
          </a:p>
        </p:txBody>
      </p:sp>
      <p:sp>
        <p:nvSpPr>
          <p:cNvPr id="5" name="矩形 4"/>
          <p:cNvSpPr>
            <a:spLocks noChangeAspect="1"/>
          </p:cNvSpPr>
          <p:nvPr/>
        </p:nvSpPr>
        <p:spPr>
          <a:xfrm>
            <a:off x="508000" y="1458012"/>
            <a:ext cx="8128000" cy="5170646"/>
          </a:xfrm>
          <a:prstGeom prst="rect">
            <a:avLst/>
          </a:prstGeom>
        </p:spPr>
        <p:txBody>
          <a:bodyPr>
            <a:spAutoFit/>
          </a:bodyPr>
          <a:lstStyle/>
          <a:p>
            <a:pPr indent="266700">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运行程序时</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在文本框</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中输入父亲身高</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在文本框</a:t>
            </a:r>
            <a:r>
              <a:rPr lang="en-US" altLang="zh-CN" sz="2200">
                <a:solidFill>
                  <a:srgbClr val="000000"/>
                </a:solidFill>
                <a:latin typeface="Times New Roman" panose="02020603050405020304" pitchFamily="18" charset="0"/>
                <a:cs typeface="Times New Roman" panose="02020603050405020304" pitchFamily="18" charset="0"/>
              </a:rPr>
              <a:t>Text2</a:t>
            </a:r>
            <a:r>
              <a:rPr lang="zh-CN" altLang="zh-CN" sz="2200">
                <a:solidFill>
                  <a:srgbClr val="000000"/>
                </a:solidFill>
                <a:latin typeface="Times New Roman" panose="02020603050405020304" pitchFamily="18" charset="0"/>
                <a:cs typeface="Times New Roman" panose="02020603050405020304" pitchFamily="18" charset="0"/>
              </a:rPr>
              <a:t>中输入母亲身高</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在文本框</a:t>
            </a:r>
            <a:r>
              <a:rPr lang="en-US" altLang="zh-CN" sz="2200">
                <a:solidFill>
                  <a:srgbClr val="000000"/>
                </a:solidFill>
                <a:latin typeface="Times New Roman" panose="02020603050405020304" pitchFamily="18" charset="0"/>
                <a:cs typeface="Times New Roman" panose="02020603050405020304" pitchFamily="18" charset="0"/>
              </a:rPr>
              <a:t>Text3</a:t>
            </a:r>
            <a:r>
              <a:rPr lang="zh-CN" altLang="zh-CN" sz="2200">
                <a:solidFill>
                  <a:srgbClr val="000000"/>
                </a:solidFill>
                <a:latin typeface="Times New Roman" panose="02020603050405020304" pitchFamily="18" charset="0"/>
                <a:cs typeface="Times New Roman" panose="02020603050405020304" pitchFamily="18" charset="0"/>
              </a:rPr>
              <a:t>中输入性别</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预测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按钮</a:t>
            </a:r>
            <a:r>
              <a:rPr lang="en-US" altLang="zh-CN" sz="2200">
                <a:solidFill>
                  <a:srgbClr val="000000"/>
                </a:solidFill>
                <a:latin typeface="Times New Roman" panose="02020603050405020304" pitchFamily="18" charset="0"/>
                <a:cs typeface="Times New Roman" panose="02020603050405020304" pitchFamily="18" charset="0"/>
              </a:rPr>
              <a:t>Command1,</a:t>
            </a:r>
            <a:r>
              <a:rPr lang="zh-CN" altLang="zh-CN" sz="2200">
                <a:solidFill>
                  <a:srgbClr val="000000"/>
                </a:solidFill>
                <a:latin typeface="Times New Roman" panose="02020603050405020304" pitchFamily="18" charset="0"/>
                <a:cs typeface="Times New Roman" panose="02020603050405020304" pitchFamily="18" charset="0"/>
              </a:rPr>
              <a:t>在标签</a:t>
            </a:r>
            <a:r>
              <a:rPr lang="en-US" altLang="zh-CN" sz="2200">
                <a:solidFill>
                  <a:srgbClr val="000000"/>
                </a:solidFill>
                <a:latin typeface="Times New Roman" panose="02020603050405020304" pitchFamily="18" charset="0"/>
                <a:cs typeface="Times New Roman" panose="02020603050405020304" pitchFamily="18" charset="0"/>
              </a:rPr>
              <a:t>Label4</a:t>
            </a:r>
            <a:r>
              <a:rPr lang="zh-CN" altLang="zh-CN" sz="2200">
                <a:solidFill>
                  <a:srgbClr val="000000"/>
                </a:solidFill>
                <a:latin typeface="Times New Roman" panose="02020603050405020304" pitchFamily="18" charset="0"/>
                <a:cs typeface="Times New Roman" panose="02020603050405020304" pitchFamily="18" charset="0"/>
              </a:rPr>
              <a:t>中显示预测身高</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程序代码如下</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h1=Val(Text1.Text)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h2=Val(Text2.Text)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s=Text3.Text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s=</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男</a:t>
            </a:r>
            <a:r>
              <a:rPr lang="en-US" altLang="zh-CN" sz="2200">
                <a:solidFill>
                  <a:srgbClr val="000000"/>
                </a:solidFill>
                <a:latin typeface="Times New Roman" panose="02020603050405020304" pitchFamily="18" charset="0"/>
                <a:cs typeface="Times New Roman" panose="02020603050405020304" pitchFamily="18" charset="0"/>
              </a:rPr>
              <a:t>″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h=</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u="sng">
                <a:solidFill>
                  <a:srgbClr val="FF0000"/>
                </a:solidFill>
                <a:uFill>
                  <a:solidFill>
                    <a:srgbClr val="000000"/>
                  </a:solidFill>
                </a:uFill>
                <a:latin typeface="NEU-BZ-S92"/>
                <a:cs typeface="宋体" panose="02010600030101010101" pitchFamily="2" charset="-122"/>
              </a:rPr>
              <a:t>①</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h=(h1*0.923+h2)/2</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Label4.Caption=Text3.Text+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孩子的身高是</a:t>
            </a:r>
            <a:r>
              <a:rPr lang="en-US"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u="sng">
                <a:solidFill>
                  <a:srgbClr val="FF0000"/>
                </a:solidFill>
                <a:uFill>
                  <a:solidFill>
                    <a:srgbClr val="000000"/>
                  </a:solidFill>
                </a:uFill>
                <a:latin typeface="NEU-BZ-S92"/>
                <a:cs typeface="宋体" panose="02010600030101010101" pitchFamily="2" charset="-122"/>
              </a:rPr>
              <a:t>②</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cm</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27819134"/>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7</a:t>
            </a:fld>
            <a:r>
              <a:rPr lang="en-US" altLang="zh-CN"/>
              <a:t>-</a:t>
            </a:r>
            <a:endParaRPr lang="zh-CN" altLang="en-US" dirty="0"/>
          </a:p>
        </p:txBody>
      </p:sp>
      <p:sp>
        <p:nvSpPr>
          <p:cNvPr id="3" name="圆角矩形 2">
            <a:hlinkClick r:id="rId2" action="ppaction://hlinksldjump"/>
          </p:cNvPr>
          <p:cNvSpPr/>
          <p:nvPr/>
        </p:nvSpPr>
        <p:spPr>
          <a:xfrm>
            <a:off x="25152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1</a:t>
            </a:r>
            <a:endParaRPr lang="zh-CN" altLang="en-US" sz="1400" dirty="0">
              <a:solidFill>
                <a:srgbClr val="E75E22"/>
              </a:solidFill>
              <a:latin typeface="+mj-ea"/>
              <a:ea typeface="+mj-ea"/>
            </a:endParaRPr>
          </a:p>
        </p:txBody>
      </p:sp>
      <p:sp>
        <p:nvSpPr>
          <p:cNvPr id="4" name="圆角矩形 3">
            <a:hlinkClick r:id="rId3" action="ppaction://hlinksldjump"/>
          </p:cNvPr>
          <p:cNvSpPr/>
          <p:nvPr/>
        </p:nvSpPr>
        <p:spPr>
          <a:xfrm>
            <a:off x="108353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2</a:t>
            </a:r>
            <a:endParaRPr lang="zh-CN" altLang="en-US" sz="1400" dirty="0">
              <a:solidFill>
                <a:schemeClr val="bg1">
                  <a:lumMod val="85000"/>
                </a:schemeClr>
              </a:solidFill>
              <a:latin typeface="+mj-ea"/>
              <a:ea typeface="+mj-ea"/>
            </a:endParaRPr>
          </a:p>
        </p:txBody>
      </p:sp>
      <p:sp>
        <p:nvSpPr>
          <p:cNvPr id="6" name="矩形 5"/>
          <p:cNvSpPr>
            <a:spLocks noChangeAspect="1"/>
          </p:cNvSpPr>
          <p:nvPr/>
        </p:nvSpPr>
        <p:spPr>
          <a:xfrm>
            <a:off x="508000" y="1701069"/>
            <a:ext cx="8128000" cy="3748719"/>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该事件处理过程采用的算法是</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填解析算法</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枚举算法</a:t>
            </a:r>
            <a:r>
              <a:rPr lang="en-US"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(2)</a:t>
            </a:r>
            <a:r>
              <a:rPr lang="zh-CN" altLang="zh-CN" sz="2200">
                <a:solidFill>
                  <a:srgbClr val="000000"/>
                </a:solidFill>
                <a:latin typeface="Times New Roman" panose="02020603050405020304" pitchFamily="18" charset="0"/>
                <a:cs typeface="Times New Roman" panose="02020603050405020304" pitchFamily="18" charset="0"/>
              </a:rPr>
              <a:t>在程序中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和</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填入适当的语句或表达式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把程序补充完整。</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解析算法　</a:t>
            </a:r>
            <a:r>
              <a:rPr lang="en-US" altLang="zh-CN" sz="2200">
                <a:solidFill>
                  <a:srgbClr val="000000"/>
                </a:solidFill>
                <a:latin typeface="Times New Roman" panose="02020603050405020304" pitchFamily="18" charset="0"/>
                <a:cs typeface="Times New Roman" panose="02020603050405020304" pitchFamily="18" charset="0"/>
              </a:rPr>
              <a:t>(2)(h1+h2)</a:t>
            </a:r>
            <a:r>
              <a:rPr lang="en-US" altLang="zh-CN" sz="2200" baseline="-25000">
                <a:solidFill>
                  <a:srgbClr val="000000"/>
                </a:solidFill>
                <a:latin typeface="NEU-BZ" panose="03000500000000000000" pitchFamily="66" charset="-122"/>
                <a:ea typeface="NEU-BZ" panose="03000500000000000000" pitchFamily="66" charset="-122"/>
                <a:cs typeface="NEU-BZ" panose="03000500000000000000" pitchFamily="66" charset="-122"/>
              </a:rPr>
              <a:t>􀆽</a:t>
            </a:r>
            <a:r>
              <a:rPr lang="en-US" altLang="zh-CN" sz="2200">
                <a:solidFill>
                  <a:srgbClr val="000000"/>
                </a:solidFill>
                <a:latin typeface="Times New Roman" panose="02020603050405020304" pitchFamily="18" charset="0"/>
                <a:cs typeface="Times New Roman" panose="02020603050405020304" pitchFamily="18" charset="0"/>
              </a:rPr>
              <a:t> 1.08/2</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Str(h)</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p:txBody>
      </p:sp>
      <p:sp>
        <p:nvSpPr>
          <p:cNvPr id="5" name="矩形 4"/>
          <p:cNvSpPr>
            <a:spLocks noChangeAspect="1"/>
          </p:cNvSpPr>
          <p:nvPr/>
        </p:nvSpPr>
        <p:spPr>
          <a:xfrm>
            <a:off x="508000" y="3326130"/>
            <a:ext cx="8128000" cy="459741"/>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41065362"/>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wipe(down)">
                                      <p:cBhvr>
                                        <p:cTn id="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8</a:t>
            </a:fld>
            <a:r>
              <a:rPr lang="en-US" altLang="zh-CN"/>
              <a:t>-</a:t>
            </a:r>
            <a:endParaRPr lang="zh-CN" altLang="en-US" dirty="0"/>
          </a:p>
        </p:txBody>
      </p:sp>
      <p:sp>
        <p:nvSpPr>
          <p:cNvPr id="3" name="圆角矩形 2">
            <a:hlinkClick r:id="rId2" action="ppaction://hlinksldjump"/>
          </p:cNvPr>
          <p:cNvSpPr/>
          <p:nvPr/>
        </p:nvSpPr>
        <p:spPr>
          <a:xfrm>
            <a:off x="25152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1</a:t>
            </a:r>
            <a:endParaRPr lang="zh-CN" altLang="en-US" sz="1400" dirty="0">
              <a:solidFill>
                <a:srgbClr val="E75E22"/>
              </a:solidFill>
              <a:latin typeface="+mj-ea"/>
              <a:ea typeface="+mj-ea"/>
            </a:endParaRPr>
          </a:p>
        </p:txBody>
      </p:sp>
      <p:sp>
        <p:nvSpPr>
          <p:cNvPr id="4" name="圆角矩形 3">
            <a:hlinkClick r:id="rId3" action="ppaction://hlinksldjump"/>
          </p:cNvPr>
          <p:cNvSpPr/>
          <p:nvPr/>
        </p:nvSpPr>
        <p:spPr>
          <a:xfrm>
            <a:off x="108353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2</a:t>
            </a:r>
            <a:endParaRPr lang="zh-CN" altLang="en-US" sz="1400" dirty="0">
              <a:solidFill>
                <a:schemeClr val="bg1">
                  <a:lumMod val="85000"/>
                </a:schemeClr>
              </a:solidFill>
              <a:latin typeface="+mj-ea"/>
              <a:ea typeface="+mj-ea"/>
            </a:endParaRPr>
          </a:p>
        </p:txBody>
      </p:sp>
      <p:sp>
        <p:nvSpPr>
          <p:cNvPr id="8" name="矩形 7"/>
          <p:cNvSpPr>
            <a:spLocks noChangeAspect="1"/>
          </p:cNvSpPr>
          <p:nvPr/>
        </p:nvSpPr>
        <p:spPr>
          <a:xfrm>
            <a:off x="508000" y="1701069"/>
            <a:ext cx="8128000" cy="3709862"/>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本题要求完善使用解析算法解决问题的程序。解析算法在程序实现时的关键点是能得出</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正确的数学模型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和写出</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正确的</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计算表达式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。从题目功能描述可知子女身高与父母身高之间存在着明确的关系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事件处理过程正是利用解析算法解决此问题的程序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属于解析算法的实现。</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根据题意和流程图</a:t>
            </a:r>
            <a:r>
              <a:rPr lang="en-US"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①</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处为计算男孩子的身高</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把计算表达式转换为</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语法的表达式填入即可。</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②</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处显示孩子的身高</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200">
                <a:solidFill>
                  <a:srgbClr val="000000"/>
                </a:solidFill>
                <a:latin typeface="Times New Roman" panose="02020603050405020304" pitchFamily="18" charset="0"/>
                <a:cs typeface="Times New Roman" panose="02020603050405020304" pitchFamily="18" charset="0"/>
              </a:rPr>
              <a:t>h</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的值。</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解决此类问题可根据任务描述和流程图</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正确提炼其中的数学表达式并将其转化成</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表达式。</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96995186"/>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9</a:t>
            </a:fld>
            <a:r>
              <a:rPr lang="en-US" altLang="zh-CN"/>
              <a:t>-</a:t>
            </a:r>
            <a:endParaRPr lang="zh-CN" altLang="en-US" dirty="0"/>
          </a:p>
        </p:txBody>
      </p:sp>
      <p:sp>
        <p:nvSpPr>
          <p:cNvPr id="3" name="圆角矩形 2">
            <a:hlinkClick r:id="rId2" action="ppaction://hlinksldjump"/>
          </p:cNvPr>
          <p:cNvSpPr/>
          <p:nvPr/>
        </p:nvSpPr>
        <p:spPr>
          <a:xfrm>
            <a:off x="25152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1</a:t>
            </a:r>
            <a:endParaRPr lang="zh-CN" altLang="en-US" sz="1400" dirty="0">
              <a:solidFill>
                <a:schemeClr val="bg1">
                  <a:lumMod val="85000"/>
                </a:schemeClr>
              </a:solidFill>
              <a:latin typeface="+mj-ea"/>
              <a:ea typeface="+mj-ea"/>
            </a:endParaRPr>
          </a:p>
        </p:txBody>
      </p:sp>
      <p:sp>
        <p:nvSpPr>
          <p:cNvPr id="4" name="圆角矩形 3">
            <a:hlinkClick r:id="rId3" action="ppaction://hlinksldjump"/>
          </p:cNvPr>
          <p:cNvSpPr/>
          <p:nvPr/>
        </p:nvSpPr>
        <p:spPr>
          <a:xfrm>
            <a:off x="108353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2</a:t>
            </a:r>
            <a:endParaRPr lang="zh-CN" altLang="en-US" sz="1400" dirty="0">
              <a:solidFill>
                <a:srgbClr val="E75E22"/>
              </a:solidFill>
              <a:latin typeface="+mj-ea"/>
              <a:ea typeface="+mj-ea"/>
            </a:endParaRPr>
          </a:p>
        </p:txBody>
      </p:sp>
      <p:sp>
        <p:nvSpPr>
          <p:cNvPr id="12" name="矩形 11"/>
          <p:cNvSpPr>
            <a:spLocks noChangeAspect="1"/>
          </p:cNvSpPr>
          <p:nvPr/>
        </p:nvSpPr>
        <p:spPr>
          <a:xfrm>
            <a:off x="508000" y="2494171"/>
            <a:ext cx="8128000" cy="2123658"/>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zh-CN" altLang="en-US" sz="2200" b="1">
                <a:solidFill>
                  <a:srgbClr val="000000"/>
                </a:solidFill>
                <a:latin typeface="Times New Roman" panose="02020603050405020304" pitchFamily="18" charset="0"/>
                <a:cs typeface="Times New Roman" panose="02020603050405020304" pitchFamily="18" charset="0"/>
              </a:rPr>
              <a:t>枚举算法的程序实现</a:t>
            </a:r>
            <a:endParaRPr lang="en-US" altLang="zh-CN" sz="2200" b="1">
              <a:solidFill>
                <a:srgbClr val="000000"/>
              </a:solidFill>
              <a:latin typeface="Times New Roman" panose="02020603050405020304" pitchFamily="18" charset="0"/>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枚举算法也称穷举算法</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其基本思想是根据问题本身的性质</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一一列举该问题所有可能的情况</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并根据题目的条件逐一作出判断</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从中找出符合条件的解。在列举的过程中</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既不能遗漏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也不能重复。比如</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要求</a:t>
            </a:r>
            <a:r>
              <a:rPr lang="en-US" altLang="zh-CN" sz="2200">
                <a:solidFill>
                  <a:srgbClr val="000000"/>
                </a:solidFill>
                <a:latin typeface="Times New Roman" panose="02020603050405020304" pitchFamily="18" charset="0"/>
                <a:cs typeface="Times New Roman" panose="02020603050405020304" pitchFamily="18" charset="0"/>
              </a:rPr>
              <a:t>100</a:t>
            </a:r>
            <a:r>
              <a:rPr lang="zh-CN" altLang="zh-CN" sz="2200">
                <a:solidFill>
                  <a:srgbClr val="000000"/>
                </a:solidFill>
                <a:latin typeface="Times New Roman" panose="02020603050405020304" pitchFamily="18" charset="0"/>
                <a:cs typeface="Times New Roman" panose="02020603050405020304" pitchFamily="18" charset="0"/>
              </a:rPr>
              <a:t>以内所有的素数</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就可以采用枚举算法。</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28756398"/>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10</a:t>
            </a:fld>
            <a:r>
              <a:rPr lang="en-US" altLang="zh-CN"/>
              <a:t>-</a:t>
            </a:r>
            <a:endParaRPr lang="zh-CN" altLang="en-US" dirty="0"/>
          </a:p>
        </p:txBody>
      </p:sp>
      <p:sp>
        <p:nvSpPr>
          <p:cNvPr id="3" name="圆角矩形 2">
            <a:hlinkClick r:id="rId2" action="ppaction://hlinksldjump"/>
          </p:cNvPr>
          <p:cNvSpPr/>
          <p:nvPr/>
        </p:nvSpPr>
        <p:spPr>
          <a:xfrm>
            <a:off x="25152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1</a:t>
            </a:r>
            <a:endParaRPr lang="zh-CN" altLang="en-US" sz="1400" dirty="0">
              <a:solidFill>
                <a:schemeClr val="bg1">
                  <a:lumMod val="85000"/>
                </a:schemeClr>
              </a:solidFill>
              <a:latin typeface="+mj-ea"/>
              <a:ea typeface="+mj-ea"/>
            </a:endParaRPr>
          </a:p>
        </p:txBody>
      </p:sp>
      <p:sp>
        <p:nvSpPr>
          <p:cNvPr id="4" name="圆角矩形 3">
            <a:hlinkClick r:id="rId3" action="ppaction://hlinksldjump"/>
          </p:cNvPr>
          <p:cNvSpPr/>
          <p:nvPr/>
        </p:nvSpPr>
        <p:spPr>
          <a:xfrm>
            <a:off x="108353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2</a:t>
            </a:r>
            <a:endParaRPr lang="zh-CN" altLang="en-US" sz="1400" dirty="0">
              <a:solidFill>
                <a:srgbClr val="E75E22"/>
              </a:solidFill>
              <a:latin typeface="+mj-ea"/>
              <a:ea typeface="+mj-ea"/>
            </a:endParaRPr>
          </a:p>
        </p:txBody>
      </p:sp>
      <p:sp>
        <p:nvSpPr>
          <p:cNvPr id="5" name="矩形 4"/>
          <p:cNvSpPr>
            <a:spLocks noChangeAspect="1"/>
          </p:cNvSpPr>
          <p:nvPr/>
        </p:nvSpPr>
        <p:spPr>
          <a:xfrm>
            <a:off x="508000" y="1478508"/>
            <a:ext cx="8128000" cy="4154984"/>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200" b="1">
                <a:solidFill>
                  <a:srgbClr val="FF0000"/>
                </a:solidFill>
                <a:latin typeface="Times New Roman" panose="02020603050405020304" pitchFamily="18" charset="0"/>
                <a:cs typeface="Times New Roman" panose="02020603050405020304" pitchFamily="18" charset="0"/>
              </a:rPr>
              <a:t>2</a:t>
            </a: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200">
                <a:solidFill>
                  <a:srgbClr val="FF0000"/>
                </a:solidFill>
                <a:latin typeface="NEU-BZ-S92"/>
                <a:ea typeface="Arial" panose="020B0604020202020204" pitchFamily="34"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鸡兔同笼问题。一群鸡和兔关在一个笼子里</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其中共有头</a:t>
            </a:r>
            <a:r>
              <a:rPr lang="en-US" altLang="zh-CN" sz="2200">
                <a:solidFill>
                  <a:srgbClr val="000000"/>
                </a:solidFill>
                <a:latin typeface="Times New Roman" panose="02020603050405020304" pitchFamily="18" charset="0"/>
                <a:cs typeface="Times New Roman" panose="02020603050405020304" pitchFamily="18" charset="0"/>
              </a:rPr>
              <a:t>30</a:t>
            </a:r>
            <a:r>
              <a:rPr lang="zh-CN" altLang="zh-CN" sz="2200">
                <a:solidFill>
                  <a:srgbClr val="000000"/>
                </a:solidFill>
                <a:latin typeface="Times New Roman" panose="02020603050405020304" pitchFamily="18" charset="0"/>
                <a:cs typeface="Times New Roman" panose="02020603050405020304" pitchFamily="18" charset="0"/>
              </a:rPr>
              <a:t>个</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脚</a:t>
            </a:r>
            <a:r>
              <a:rPr lang="en-US" altLang="zh-CN" sz="2200">
                <a:solidFill>
                  <a:srgbClr val="000000"/>
                </a:solidFill>
                <a:latin typeface="Times New Roman" panose="02020603050405020304" pitchFamily="18" charset="0"/>
                <a:cs typeface="Times New Roman" panose="02020603050405020304" pitchFamily="18" charset="0"/>
              </a:rPr>
              <a:t>60</a:t>
            </a:r>
            <a:r>
              <a:rPr lang="zh-CN" altLang="zh-CN" sz="2200">
                <a:solidFill>
                  <a:srgbClr val="000000"/>
                </a:solidFill>
                <a:latin typeface="Times New Roman" panose="02020603050405020304" pitchFamily="18" charset="0"/>
                <a:cs typeface="Times New Roman" panose="02020603050405020304" pitchFamily="18" charset="0"/>
              </a:rPr>
              <a:t>只</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问鸡和兔各几只</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现用</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cs typeface="Times New Roman" panose="02020603050405020304" pitchFamily="18" charset="0"/>
              </a:rPr>
              <a:t>程序求解</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程序如下</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for i=1 to 30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j=</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u="sng">
                <a:solidFill>
                  <a:srgbClr val="FF0000"/>
                </a:solidFill>
                <a:uFill>
                  <a:solidFill>
                    <a:srgbClr val="000000"/>
                  </a:solidFill>
                </a:uFill>
                <a:latin typeface="NEU-BZ-S92"/>
                <a:cs typeface="宋体" panose="02010600030101010101" pitchFamily="2" charset="-122"/>
              </a:rPr>
              <a:t>①</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if </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u="sng">
                <a:solidFill>
                  <a:srgbClr val="FF0000"/>
                </a:solidFill>
                <a:uFill>
                  <a:solidFill>
                    <a:srgbClr val="000000"/>
                  </a:solidFill>
                </a:uFill>
                <a:latin typeface="NEU-BZ-S92"/>
                <a:cs typeface="宋体" panose="02010600030101010101" pitchFamily="2" charset="-122"/>
              </a:rPr>
              <a:t>②</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 then</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list1.additem </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鸡</a:t>
            </a:r>
            <a:r>
              <a:rPr lang="en-US"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+str(i)+</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只</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兔</a:t>
            </a:r>
            <a:r>
              <a:rPr lang="en-US" altLang="zh-CN" sz="2200">
                <a:solidFill>
                  <a:srgbClr val="000000"/>
                </a:solidFill>
                <a:latin typeface="Times New Roman" panose="02020603050405020304" pitchFamily="18" charset="0"/>
                <a:cs typeface="Times New Roman" panose="02020603050405020304" pitchFamily="18" charset="0"/>
              </a:rPr>
              <a:t>″+str(j)+</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只。</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next i</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82235781"/>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11</a:t>
            </a:fld>
            <a:r>
              <a:rPr lang="en-US" altLang="zh-CN"/>
              <a:t>-</a:t>
            </a:r>
            <a:endParaRPr lang="zh-CN" altLang="en-US" dirty="0"/>
          </a:p>
        </p:txBody>
      </p:sp>
      <p:sp>
        <p:nvSpPr>
          <p:cNvPr id="3" name="圆角矩形 2">
            <a:hlinkClick r:id="rId2" action="ppaction://hlinksldjump"/>
          </p:cNvPr>
          <p:cNvSpPr/>
          <p:nvPr/>
        </p:nvSpPr>
        <p:spPr>
          <a:xfrm>
            <a:off x="25152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1</a:t>
            </a:r>
            <a:endParaRPr lang="zh-CN" altLang="en-US" sz="1400" dirty="0">
              <a:solidFill>
                <a:schemeClr val="bg1">
                  <a:lumMod val="85000"/>
                </a:schemeClr>
              </a:solidFill>
              <a:latin typeface="+mj-ea"/>
              <a:ea typeface="+mj-ea"/>
            </a:endParaRPr>
          </a:p>
        </p:txBody>
      </p:sp>
      <p:sp>
        <p:nvSpPr>
          <p:cNvPr id="4" name="圆角矩形 3">
            <a:hlinkClick r:id="rId3" action="ppaction://hlinksldjump"/>
          </p:cNvPr>
          <p:cNvSpPr/>
          <p:nvPr/>
        </p:nvSpPr>
        <p:spPr>
          <a:xfrm>
            <a:off x="108353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2</a:t>
            </a:r>
            <a:endParaRPr lang="zh-CN" altLang="en-US" sz="1400" dirty="0">
              <a:solidFill>
                <a:srgbClr val="E75E22"/>
              </a:solidFill>
              <a:latin typeface="+mj-ea"/>
              <a:ea typeface="+mj-ea"/>
            </a:endParaRPr>
          </a:p>
        </p:txBody>
      </p:sp>
      <p:sp>
        <p:nvSpPr>
          <p:cNvPr id="5" name="矩形 4"/>
          <p:cNvSpPr>
            <a:spLocks noChangeAspect="1"/>
          </p:cNvSpPr>
          <p:nvPr/>
        </p:nvSpPr>
        <p:spPr>
          <a:xfrm>
            <a:off x="508000" y="1904201"/>
            <a:ext cx="8128000" cy="3303597"/>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该事件处理过程采用的算法是</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解析算法</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枚举算法</a:t>
            </a:r>
            <a:r>
              <a:rPr lang="en-US"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(2)</a:t>
            </a:r>
            <a:r>
              <a:rPr lang="zh-CN" altLang="zh-CN" sz="2200">
                <a:solidFill>
                  <a:srgbClr val="000000"/>
                </a:solidFill>
                <a:latin typeface="Times New Roman" panose="02020603050405020304" pitchFamily="18" charset="0"/>
                <a:cs typeface="Times New Roman" panose="02020603050405020304" pitchFamily="18" charset="0"/>
              </a:rPr>
              <a:t>在程序中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和</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填入适当的语句或表达式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把程序补充完整。</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28097547"/>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12</a:t>
            </a:fld>
            <a:r>
              <a:rPr lang="en-US" altLang="zh-CN"/>
              <a:t>-</a:t>
            </a:r>
            <a:endParaRPr lang="zh-CN" altLang="en-US" dirty="0"/>
          </a:p>
        </p:txBody>
      </p:sp>
      <p:sp>
        <p:nvSpPr>
          <p:cNvPr id="3" name="圆角矩形 2">
            <a:hlinkClick r:id="rId2" action="ppaction://hlinksldjump"/>
          </p:cNvPr>
          <p:cNvSpPr/>
          <p:nvPr/>
        </p:nvSpPr>
        <p:spPr>
          <a:xfrm>
            <a:off x="251520" y="1052512"/>
            <a:ext cx="756208" cy="2882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85000"/>
                  </a:schemeClr>
                </a:solidFill>
                <a:latin typeface="+mj-ea"/>
                <a:ea typeface="+mj-ea"/>
              </a:rPr>
              <a:t>考点</a:t>
            </a:r>
            <a:r>
              <a:rPr lang="en-US" altLang="zh-CN" sz="1400" dirty="0">
                <a:solidFill>
                  <a:schemeClr val="bg1">
                    <a:lumMod val="85000"/>
                  </a:schemeClr>
                </a:solidFill>
                <a:latin typeface="+mj-ea"/>
                <a:ea typeface="+mj-ea"/>
              </a:rPr>
              <a:t>1</a:t>
            </a:r>
            <a:endParaRPr lang="zh-CN" altLang="en-US" sz="1400" dirty="0">
              <a:solidFill>
                <a:schemeClr val="bg1">
                  <a:lumMod val="85000"/>
                </a:schemeClr>
              </a:solidFill>
              <a:latin typeface="+mj-ea"/>
              <a:ea typeface="+mj-ea"/>
            </a:endParaRPr>
          </a:p>
        </p:txBody>
      </p:sp>
      <p:sp>
        <p:nvSpPr>
          <p:cNvPr id="4" name="圆角矩形 3">
            <a:hlinkClick r:id="rId3" action="ppaction://hlinksldjump"/>
          </p:cNvPr>
          <p:cNvSpPr/>
          <p:nvPr/>
        </p:nvSpPr>
        <p:spPr>
          <a:xfrm>
            <a:off x="1083530" y="1052512"/>
            <a:ext cx="756208" cy="288255"/>
          </a:xfrm>
          <a:prstGeom prst="roundRect">
            <a:avLst/>
          </a:prstGeom>
          <a:solidFill>
            <a:srgbClr val="FFE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E75E22"/>
                </a:solidFill>
                <a:latin typeface="+mj-ea"/>
                <a:ea typeface="+mj-ea"/>
              </a:rPr>
              <a:t>考点</a:t>
            </a:r>
            <a:r>
              <a:rPr lang="en-US" altLang="zh-CN" sz="1400" dirty="0">
                <a:solidFill>
                  <a:srgbClr val="E75E22"/>
                </a:solidFill>
                <a:latin typeface="+mj-ea"/>
                <a:ea typeface="+mj-ea"/>
              </a:rPr>
              <a:t>2</a:t>
            </a:r>
            <a:endParaRPr lang="zh-CN" altLang="en-US" sz="1400" dirty="0">
              <a:solidFill>
                <a:srgbClr val="E75E22"/>
              </a:solidFill>
              <a:latin typeface="+mj-ea"/>
              <a:ea typeface="+mj-ea"/>
            </a:endParaRPr>
          </a:p>
        </p:txBody>
      </p:sp>
      <p:sp>
        <p:nvSpPr>
          <p:cNvPr id="5" name="矩形 4"/>
          <p:cNvSpPr>
            <a:spLocks noChangeAspect="1"/>
          </p:cNvSpPr>
          <p:nvPr/>
        </p:nvSpPr>
        <p:spPr>
          <a:xfrm>
            <a:off x="508000" y="2107334"/>
            <a:ext cx="8128000" cy="2897332"/>
          </a:xfrm>
          <a:prstGeom prst="rect">
            <a:avLst/>
          </a:prstGeom>
        </p:spPr>
        <p:txBody>
          <a:bodyPr>
            <a:spAutoFit/>
          </a:bodyPr>
          <a:lstStyle/>
          <a:p>
            <a:pPr indent="2667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枚举算法　</a:t>
            </a:r>
            <a:r>
              <a:rPr lang="en-US" altLang="zh-CN" sz="2200">
                <a:solidFill>
                  <a:srgbClr val="000000"/>
                </a:solidFill>
                <a:latin typeface="Times New Roman" panose="02020603050405020304" pitchFamily="18" charset="0"/>
                <a:cs typeface="Times New Roman" panose="02020603050405020304" pitchFamily="18" charset="0"/>
              </a:rPr>
              <a:t>(2)30-i</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 i*2+j*4=60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由语句</a:t>
            </a:r>
            <a:r>
              <a:rPr lang="en-US" altLang="zh-CN" sz="2200">
                <a:solidFill>
                  <a:srgbClr val="000000"/>
                </a:solidFill>
                <a:latin typeface="Times New Roman" panose="02020603050405020304" pitchFamily="18" charset="0"/>
                <a:cs typeface="Times New Roman" panose="02020603050405020304" pitchFamily="18" charset="0"/>
              </a:rPr>
              <a:t>list1.additem</a:t>
            </a:r>
            <a:r>
              <a:rPr lang="en-US"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鸡</a:t>
            </a:r>
            <a:r>
              <a:rPr lang="en-US"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+str(i)+</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兔</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+str(j)+</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可知</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变量</a:t>
            </a:r>
            <a:r>
              <a:rPr lang="en-US" altLang="zh-CN" sz="2200">
                <a:solidFill>
                  <a:srgbClr val="000000"/>
                </a:solidFill>
                <a:latin typeface="Times New Roman" panose="02020603050405020304" pitchFamily="18" charset="0"/>
                <a:cs typeface="Times New Roman" panose="02020603050405020304" pitchFamily="18" charset="0"/>
              </a:rPr>
              <a:t>i</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表示鸡的数量</a:t>
            </a:r>
            <a:r>
              <a:rPr lang="en-US" altLang="zh-CN" sz="2200">
                <a:solidFill>
                  <a:srgbClr val="000000"/>
                </a:solidFill>
                <a:latin typeface="Times New Roman" panose="02020603050405020304" pitchFamily="18" charset="0"/>
                <a:cs typeface="Times New Roman" panose="02020603050405020304" pitchFamily="18" charset="0"/>
              </a:rPr>
              <a:t>,j</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表示兔的数量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处应填入</a:t>
            </a:r>
            <a:r>
              <a:rPr lang="en-US" altLang="zh-CN" sz="2200">
                <a:solidFill>
                  <a:srgbClr val="000000"/>
                </a:solidFill>
                <a:latin typeface="Times New Roman" panose="02020603050405020304" pitchFamily="18" charset="0"/>
                <a:cs typeface="Times New Roman" panose="02020603050405020304" pitchFamily="18" charset="0"/>
              </a:rPr>
              <a:t>30-i</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处判断脚的数量是否等于</a:t>
            </a:r>
            <a:r>
              <a:rPr lang="en-US" altLang="zh-CN" sz="2200">
                <a:solidFill>
                  <a:srgbClr val="000000"/>
                </a:solidFill>
                <a:latin typeface="Times New Roman" panose="02020603050405020304" pitchFamily="18" charset="0"/>
                <a:cs typeface="Times New Roman" panose="02020603050405020304" pitchFamily="18" charset="0"/>
              </a:rPr>
              <a:t>60,</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处的条件表达式</a:t>
            </a:r>
            <a:r>
              <a:rPr lang="en-US" altLang="zh-CN" sz="2200">
                <a:solidFill>
                  <a:srgbClr val="000000"/>
                </a:solidFill>
                <a:latin typeface="Times New Roman" panose="02020603050405020304" pitchFamily="18" charset="0"/>
                <a:cs typeface="Times New Roman" panose="02020603050405020304" pitchFamily="18" charset="0"/>
              </a:rPr>
              <a:t>i*2+j*4=60,</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只要满足两个条件</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即把数据展示在列表框中。由上分析可知</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循环变量</a:t>
            </a:r>
            <a:r>
              <a:rPr lang="en-US" altLang="zh-CN" sz="2200">
                <a:solidFill>
                  <a:srgbClr val="000000"/>
                </a:solidFill>
                <a:latin typeface="Times New Roman" panose="02020603050405020304" pitchFamily="18" charset="0"/>
                <a:cs typeface="Times New Roman" panose="02020603050405020304" pitchFamily="18" charset="0"/>
              </a:rPr>
              <a:t>i</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表示鸡的数量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其值由</a:t>
            </a: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a:t>
            </a:r>
            <a:r>
              <a:rPr lang="en-US" altLang="zh-CN" sz="2200">
                <a:solidFill>
                  <a:srgbClr val="000000"/>
                </a:solidFill>
                <a:latin typeface="Times New Roman" panose="02020603050405020304" pitchFamily="18" charset="0"/>
                <a:cs typeface="Times New Roman" panose="02020603050405020304" pitchFamily="18" charset="0"/>
              </a:rPr>
              <a:t>30,</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逐一条件</a:t>
            </a:r>
            <a:r>
              <a:rPr lang="en-US" altLang="zh-CN" sz="2200">
                <a:solidFill>
                  <a:srgbClr val="000000"/>
                </a:solidFill>
                <a:latin typeface="Times New Roman" panose="02020603050405020304" pitchFamily="18" charset="0"/>
                <a:cs typeface="Times New Roman" panose="02020603050405020304" pitchFamily="18" charset="0"/>
              </a:rPr>
              <a:t>“i*2+j*4=60”</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进行比对</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若符合的进行展示</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由此特征可判断该程序是典型的枚举算法程序。</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0710571"/>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13</a:t>
            </a:fld>
            <a:r>
              <a:rPr lang="en-US" altLang="zh-CN"/>
              <a:t>-</a:t>
            </a:r>
            <a:endParaRPr lang="zh-CN" altLang="en-US" dirty="0"/>
          </a:p>
        </p:txBody>
      </p:sp>
      <p:sp>
        <p:nvSpPr>
          <p:cNvPr id="53" name="椭圆 52">
            <a:hlinkClick r:id="rId2" action="ppaction://hlinksldjump"/>
          </p:cNvPr>
          <p:cNvSpPr/>
          <p:nvPr/>
        </p:nvSpPr>
        <p:spPr>
          <a:xfrm>
            <a:off x="391396"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4" name="椭圆 53">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5" name="椭圆 54">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6" name="椭圆 55">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7" name="椭圆 56">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8" name="椭圆 57">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9" name="椭圆 58">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60" name="椭圆 59">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30" name="椭圆 2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1" name="矩形 30"/>
          <p:cNvSpPr>
            <a:spLocks noChangeAspect="1"/>
          </p:cNvSpPr>
          <p:nvPr/>
        </p:nvSpPr>
        <p:spPr>
          <a:xfrm>
            <a:off x="508000" y="2107334"/>
            <a:ext cx="8128000" cy="29361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1</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某商场举行</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满就送</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活动</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活动规则如下</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购物满</a:t>
            </a:r>
            <a:r>
              <a:rPr lang="en-US" altLang="zh-CN" sz="2200">
                <a:solidFill>
                  <a:srgbClr val="000000"/>
                </a:solidFill>
                <a:latin typeface="Times New Roman" panose="02020603050405020304" pitchFamily="18" charset="0"/>
                <a:cs typeface="Times New Roman" panose="02020603050405020304" pitchFamily="18" charset="0"/>
              </a:rPr>
              <a:t>100</a:t>
            </a:r>
            <a:r>
              <a:rPr lang="zh-CN" altLang="zh-CN" sz="2200">
                <a:solidFill>
                  <a:srgbClr val="000000"/>
                </a:solidFill>
                <a:latin typeface="Times New Roman" panose="02020603050405020304" pitchFamily="18" charset="0"/>
                <a:cs typeface="Times New Roman" panose="02020603050405020304" pitchFamily="18" charset="0"/>
              </a:rPr>
              <a:t>送</a:t>
            </a:r>
            <a:r>
              <a:rPr lang="en-US" altLang="zh-CN" sz="2200">
                <a:solidFill>
                  <a:srgbClr val="000000"/>
                </a:solidFill>
                <a:latin typeface="Times New Roman" panose="02020603050405020304" pitchFamily="18" charset="0"/>
                <a:cs typeface="Times New Roman" panose="02020603050405020304" pitchFamily="18" charset="0"/>
              </a:rPr>
              <a:t>10</a:t>
            </a:r>
            <a:r>
              <a:rPr lang="zh-CN" altLang="zh-CN" sz="2200">
                <a:solidFill>
                  <a:srgbClr val="000000"/>
                </a:solidFill>
                <a:latin typeface="Times New Roman" panose="02020603050405020304" pitchFamily="18" charset="0"/>
                <a:cs typeface="Times New Roman" panose="02020603050405020304" pitchFamily="18" charset="0"/>
              </a:rPr>
              <a:t>元券</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购物满</a:t>
            </a:r>
            <a:r>
              <a:rPr lang="en-US" altLang="zh-CN" sz="2200">
                <a:solidFill>
                  <a:srgbClr val="000000"/>
                </a:solidFill>
                <a:latin typeface="Times New Roman" panose="02020603050405020304" pitchFamily="18" charset="0"/>
                <a:cs typeface="Times New Roman" panose="02020603050405020304" pitchFamily="18" charset="0"/>
              </a:rPr>
              <a:t>200</a:t>
            </a:r>
            <a:r>
              <a:rPr lang="zh-CN" altLang="zh-CN" sz="2200">
                <a:solidFill>
                  <a:srgbClr val="000000"/>
                </a:solidFill>
                <a:latin typeface="Times New Roman" panose="02020603050405020304" pitchFamily="18" charset="0"/>
                <a:cs typeface="Times New Roman" panose="02020603050405020304" pitchFamily="18" charset="0"/>
              </a:rPr>
              <a:t>送</a:t>
            </a:r>
            <a:r>
              <a:rPr lang="en-US" altLang="zh-CN" sz="2200">
                <a:solidFill>
                  <a:srgbClr val="000000"/>
                </a:solidFill>
                <a:latin typeface="Times New Roman" panose="02020603050405020304" pitchFamily="18" charset="0"/>
                <a:cs typeface="Times New Roman" panose="02020603050405020304" pitchFamily="18" charset="0"/>
              </a:rPr>
              <a:t>30</a:t>
            </a:r>
            <a:r>
              <a:rPr lang="zh-CN" altLang="zh-CN" sz="2200">
                <a:solidFill>
                  <a:srgbClr val="000000"/>
                </a:solidFill>
                <a:latin typeface="Times New Roman" panose="02020603050405020304" pitchFamily="18" charset="0"/>
                <a:cs typeface="Times New Roman" panose="02020603050405020304" pitchFamily="18" charset="0"/>
              </a:rPr>
              <a:t>元券</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购物满</a:t>
            </a:r>
            <a:r>
              <a:rPr lang="en-US" altLang="zh-CN" sz="2200">
                <a:solidFill>
                  <a:srgbClr val="000000"/>
                </a:solidFill>
                <a:latin typeface="Times New Roman" panose="02020603050405020304" pitchFamily="18" charset="0"/>
                <a:cs typeface="Times New Roman" panose="02020603050405020304" pitchFamily="18" charset="0"/>
              </a:rPr>
              <a:t>300</a:t>
            </a:r>
            <a:r>
              <a:rPr lang="zh-CN" altLang="zh-CN" sz="2200">
                <a:solidFill>
                  <a:srgbClr val="000000"/>
                </a:solidFill>
                <a:latin typeface="Times New Roman" panose="02020603050405020304" pitchFamily="18" charset="0"/>
                <a:cs typeface="Times New Roman" panose="02020603050405020304" pitchFamily="18" charset="0"/>
              </a:rPr>
              <a:t>送</a:t>
            </a:r>
            <a:r>
              <a:rPr lang="en-US" altLang="zh-CN" sz="2200">
                <a:solidFill>
                  <a:srgbClr val="000000"/>
                </a:solidFill>
                <a:latin typeface="Times New Roman" panose="02020603050405020304" pitchFamily="18" charset="0"/>
                <a:cs typeface="Times New Roman" panose="02020603050405020304" pitchFamily="18" charset="0"/>
              </a:rPr>
              <a:t>60</a:t>
            </a:r>
            <a:r>
              <a:rPr lang="zh-CN" altLang="zh-CN" sz="2200">
                <a:solidFill>
                  <a:srgbClr val="000000"/>
                </a:solidFill>
                <a:latin typeface="Times New Roman" panose="02020603050405020304" pitchFamily="18" charset="0"/>
                <a:cs typeface="Times New Roman" panose="02020603050405020304" pitchFamily="18" charset="0"/>
              </a:rPr>
              <a:t>元券</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购物满</a:t>
            </a:r>
            <a:r>
              <a:rPr lang="en-US" altLang="zh-CN" sz="2200">
                <a:solidFill>
                  <a:srgbClr val="000000"/>
                </a:solidFill>
                <a:latin typeface="Times New Roman" panose="02020603050405020304" pitchFamily="18" charset="0"/>
                <a:cs typeface="Times New Roman" panose="02020603050405020304" pitchFamily="18" charset="0"/>
              </a:rPr>
              <a:t>400</a:t>
            </a:r>
            <a:r>
              <a:rPr lang="zh-CN" altLang="zh-CN" sz="2200">
                <a:solidFill>
                  <a:srgbClr val="000000"/>
                </a:solidFill>
                <a:latin typeface="Times New Roman" panose="02020603050405020304" pitchFamily="18" charset="0"/>
                <a:cs typeface="Times New Roman" panose="02020603050405020304" pitchFamily="18" charset="0"/>
              </a:rPr>
              <a:t>送</a:t>
            </a:r>
            <a:r>
              <a:rPr lang="en-US" altLang="zh-CN" sz="2200">
                <a:solidFill>
                  <a:srgbClr val="000000"/>
                </a:solidFill>
                <a:latin typeface="Times New Roman" panose="02020603050405020304" pitchFamily="18" charset="0"/>
                <a:cs typeface="Times New Roman" panose="02020603050405020304" pitchFamily="18" charset="0"/>
              </a:rPr>
              <a:t>100</a:t>
            </a:r>
            <a:r>
              <a:rPr lang="zh-CN" altLang="zh-CN" sz="2200">
                <a:solidFill>
                  <a:srgbClr val="000000"/>
                </a:solidFill>
                <a:latin typeface="Times New Roman" panose="02020603050405020304" pitchFamily="18" charset="0"/>
                <a:cs typeface="Times New Roman" panose="02020603050405020304" pitchFamily="18" charset="0"/>
              </a:rPr>
              <a:t>元券</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购物满</a:t>
            </a:r>
            <a:r>
              <a:rPr lang="en-US" altLang="zh-CN" sz="2200">
                <a:solidFill>
                  <a:srgbClr val="000000"/>
                </a:solidFill>
                <a:latin typeface="Times New Roman" panose="02020603050405020304" pitchFamily="18" charset="0"/>
                <a:cs typeface="Times New Roman" panose="02020603050405020304" pitchFamily="18" charset="0"/>
              </a:rPr>
              <a:t>500</a:t>
            </a:r>
            <a:r>
              <a:rPr lang="zh-CN" altLang="zh-CN" sz="2200">
                <a:solidFill>
                  <a:srgbClr val="000000"/>
                </a:solidFill>
                <a:latin typeface="Times New Roman" panose="02020603050405020304" pitchFamily="18" charset="0"/>
                <a:cs typeface="Times New Roman" panose="02020603050405020304" pitchFamily="18" charset="0"/>
              </a:rPr>
              <a:t>送</a:t>
            </a:r>
            <a:r>
              <a:rPr lang="en-US" altLang="zh-CN" sz="2200">
                <a:solidFill>
                  <a:srgbClr val="000000"/>
                </a:solidFill>
                <a:latin typeface="Times New Roman" panose="02020603050405020304" pitchFamily="18" charset="0"/>
                <a:cs typeface="Times New Roman" panose="02020603050405020304" pitchFamily="18" charset="0"/>
              </a:rPr>
              <a:t>150</a:t>
            </a:r>
            <a:r>
              <a:rPr lang="zh-CN" altLang="zh-CN" sz="2200">
                <a:solidFill>
                  <a:srgbClr val="000000"/>
                </a:solidFill>
                <a:latin typeface="Times New Roman" panose="02020603050405020304" pitchFamily="18" charset="0"/>
                <a:cs typeface="Times New Roman" panose="02020603050405020304" pitchFamily="18" charset="0"/>
              </a:rPr>
              <a:t>元券</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根据上述规则</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使用</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cs typeface="Times New Roman" panose="02020603050405020304" pitchFamily="18" charset="0"/>
              </a:rPr>
              <a:t>设计程序如下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en-US" sz="2200">
                <a:solidFill>
                  <a:srgbClr val="000000"/>
                </a:solidFill>
                <a:latin typeface="Times New Roman" panose="02020603050405020304" pitchFamily="18" charset="0"/>
                <a:cs typeface="Times New Roman" panose="02020603050405020304" pitchFamily="18" charset="0"/>
              </a:rPr>
              <a:t>请在划线处填写正确的代码。</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3637495"/>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a:spLocks noChangeAspect="1"/>
          </p:cNvSpPr>
          <p:nvPr/>
        </p:nvSpPr>
        <p:spPr>
          <a:xfrm>
            <a:off x="508000" y="1290276"/>
            <a:ext cx="8128000" cy="5509200"/>
          </a:xfrm>
          <a:prstGeom prst="rect">
            <a:avLst/>
          </a:prstGeom>
        </p:spPr>
        <p:txBody>
          <a:bodyPr>
            <a:spAutoFit/>
          </a:bodyPr>
          <a:lstStyle/>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m as Single,x as Integer</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m=Val(Text1.Text)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①</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 Then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x=150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ElseIf m&gt;=400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x=100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ElseIf m&gt;=300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x=60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ElseIf m&gt;=200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x=30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ElseIf m&gt;=100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x=10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Label1.Caption=</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②</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显示优惠券值</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p:txBody>
      </p:sp>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14</a:t>
            </a:fld>
            <a:r>
              <a:rPr lang="en-US" altLang="zh-CN"/>
              <a:t>-</a:t>
            </a:r>
            <a:endParaRPr lang="zh-CN" altLang="en-US" dirty="0"/>
          </a:p>
        </p:txBody>
      </p:sp>
      <p:sp>
        <p:nvSpPr>
          <p:cNvPr id="53" name="椭圆 52">
            <a:hlinkClick r:id="rId2" action="ppaction://hlinksldjump"/>
          </p:cNvPr>
          <p:cNvSpPr/>
          <p:nvPr/>
        </p:nvSpPr>
        <p:spPr>
          <a:xfrm>
            <a:off x="391396"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4" name="椭圆 53">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5" name="椭圆 54">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6" name="椭圆 55">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7" name="椭圆 56">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8" name="椭圆 57">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9" name="椭圆 58">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60" name="椭圆 59">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30" name="椭圆 2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Tree>
    <p:extLst>
      <p:ext uri="{BB962C8B-B14F-4D97-AF65-F5344CB8AC3E}">
        <p14:creationId xmlns:p14="http://schemas.microsoft.com/office/powerpoint/2010/main" val="1320193895"/>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15</a:t>
            </a:fld>
            <a:r>
              <a:rPr lang="en-US" altLang="zh-CN"/>
              <a:t>-</a:t>
            </a:r>
            <a:endParaRPr lang="zh-CN" altLang="en-US" dirty="0"/>
          </a:p>
        </p:txBody>
      </p:sp>
      <p:sp>
        <p:nvSpPr>
          <p:cNvPr id="53" name="椭圆 52">
            <a:hlinkClick r:id="rId2" action="ppaction://hlinksldjump"/>
          </p:cNvPr>
          <p:cNvSpPr/>
          <p:nvPr/>
        </p:nvSpPr>
        <p:spPr>
          <a:xfrm>
            <a:off x="391396"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4" name="椭圆 53">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5" name="椭圆 54">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6" name="椭圆 55">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7" name="椭圆 56">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8" name="椭圆 57">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9" name="椭圆 58">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60" name="椭圆 59">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30" name="椭圆 2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12" name="矩形 11"/>
          <p:cNvSpPr>
            <a:spLocks noChangeAspect="1"/>
          </p:cNvSpPr>
          <p:nvPr/>
        </p:nvSpPr>
        <p:spPr>
          <a:xfrm>
            <a:off x="508000" y="1471548"/>
            <a:ext cx="8128000" cy="90486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3" name="五边形 12"/>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grpSp>
        <p:nvGrpSpPr>
          <p:cNvPr id="14" name="组合 13"/>
          <p:cNvGrpSpPr/>
          <p:nvPr/>
        </p:nvGrpSpPr>
        <p:grpSpPr>
          <a:xfrm>
            <a:off x="251520" y="5297118"/>
            <a:ext cx="8640960" cy="1372242"/>
            <a:chOff x="251520" y="4532434"/>
            <a:chExt cx="8640960" cy="1372242"/>
          </a:xfrm>
        </p:grpSpPr>
        <p:grpSp>
          <p:nvGrpSpPr>
            <p:cNvPr id="15" name="组合 14"/>
            <p:cNvGrpSpPr/>
            <p:nvPr/>
          </p:nvGrpSpPr>
          <p:grpSpPr>
            <a:xfrm>
              <a:off x="251520" y="4532434"/>
              <a:ext cx="8640960" cy="1372242"/>
              <a:chOff x="251520" y="3535355"/>
              <a:chExt cx="8640960" cy="1372242"/>
            </a:xfrm>
          </p:grpSpPr>
          <p:sp>
            <p:nvSpPr>
              <p:cNvPr id="17" name="五边形 16"/>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18" name="燕尾形 17"/>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矩形 18"/>
              <p:cNvSpPr/>
              <p:nvPr/>
            </p:nvSpPr>
            <p:spPr>
              <a:xfrm>
                <a:off x="251520" y="3535355"/>
                <a:ext cx="8640960" cy="1056807"/>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48"/>
              <p:cNvSpPr txBox="1"/>
              <p:nvPr/>
            </p:nvSpPr>
            <p:spPr>
              <a:xfrm>
                <a:off x="8388424" y="3607363"/>
                <a:ext cx="492443" cy="276999"/>
              </a:xfrm>
              <a:prstGeom prst="rect">
                <a:avLst/>
              </a:prstGeom>
              <a:noFill/>
            </p:spPr>
            <p:txBody>
              <a:bodyPr wrap="none" rtlCol="0">
                <a:spAutoFit/>
              </a:bodyPr>
              <a:lstStyle/>
              <a:p>
                <a:r>
                  <a:rPr lang="zh-CN" altLang="en-US" sz="1200" dirty="0"/>
                  <a:t>关闭</a:t>
                </a:r>
              </a:p>
            </p:txBody>
          </p:sp>
        </p:grpSp>
        <p:sp>
          <p:nvSpPr>
            <p:cNvPr id="16" name="矩形 15"/>
            <p:cNvSpPr>
              <a:spLocks noChangeAspect="1"/>
            </p:cNvSpPr>
            <p:nvPr/>
          </p:nvSpPr>
          <p:spPr>
            <a:xfrm>
              <a:off x="539552" y="4890238"/>
              <a:ext cx="8064896" cy="426335"/>
            </a:xfrm>
            <a:prstGeom prst="rect">
              <a:avLst/>
            </a:prstGeom>
          </p:spPr>
          <p:txBody>
            <a:bodyPr wrap="square">
              <a:spAutoFit/>
            </a:bodyPr>
            <a:lstStyle/>
            <a:p>
              <a:pPr>
                <a:lnSpc>
                  <a:spcPct val="120000"/>
                </a:lnSpc>
              </a:pPr>
              <a:r>
                <a:rPr lang="zh-CN" altLang="zh-CN" sz="2000">
                  <a:solidFill>
                    <a:srgbClr val="000000"/>
                  </a:solidFill>
                  <a:latin typeface="Times New Roman" panose="02020603050405020304" pitchFamily="18" charset="0"/>
                  <a:cs typeface="Times New Roman" panose="02020603050405020304" pitchFamily="18" charset="0"/>
                </a:rPr>
                <a:t>解析法　</a:t>
              </a:r>
              <a:r>
                <a:rPr lang="en-US" altLang="zh-CN" sz="2000">
                  <a:solidFill>
                    <a:srgbClr val="000000"/>
                  </a:solidFill>
                  <a:latin typeface="Times New Roman" panose="02020603050405020304" pitchFamily="18" charset="0"/>
                </a:rPr>
                <a:t>m&gt;=500</a:t>
              </a: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rPr>
                <a:t>str(x) </a:t>
              </a:r>
              <a:endParaRPr lang="zh-CN" altLang="en-US" sz="2000"/>
            </a:p>
          </p:txBody>
        </p:sp>
      </p:grpSp>
    </p:spTree>
    <p:extLst>
      <p:ext uri="{BB962C8B-B14F-4D97-AF65-F5344CB8AC3E}">
        <p14:creationId xmlns:p14="http://schemas.microsoft.com/office/powerpoint/2010/main" val="493043405"/>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16</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30" name="椭圆 2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1" name="矩形 30"/>
          <p:cNvSpPr>
            <a:spLocks noChangeAspect="1"/>
          </p:cNvSpPr>
          <p:nvPr/>
        </p:nvSpPr>
        <p:spPr>
          <a:xfrm>
            <a:off x="508000" y="1484313"/>
            <a:ext cx="8128000" cy="49286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2</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水仙花数是指其各位数字的</a:t>
            </a:r>
            <a:r>
              <a:rPr lang="en-US" altLang="zh-CN" sz="2200">
                <a:solidFill>
                  <a:srgbClr val="000000"/>
                </a:solidFill>
                <a:latin typeface="Times New Roman" panose="02020603050405020304" pitchFamily="18" charset="0"/>
                <a:cs typeface="Times New Roman" panose="02020603050405020304" pitchFamily="18" charset="0"/>
              </a:rPr>
              <a:t>3</a:t>
            </a:r>
            <a:r>
              <a:rPr lang="zh-CN" altLang="zh-CN" sz="2200">
                <a:solidFill>
                  <a:srgbClr val="000000"/>
                </a:solidFill>
                <a:latin typeface="Times New Roman" panose="02020603050405020304" pitchFamily="18" charset="0"/>
                <a:cs typeface="Times New Roman" panose="02020603050405020304" pitchFamily="18" charset="0"/>
              </a:rPr>
              <a:t>次幂之和等于它自身的数</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打印</a:t>
            </a:r>
            <a:r>
              <a:rPr lang="en-US" altLang="zh-CN" sz="2200">
                <a:solidFill>
                  <a:srgbClr val="000000"/>
                </a:solidFill>
                <a:latin typeface="Times New Roman" panose="02020603050405020304" pitchFamily="18" charset="0"/>
                <a:cs typeface="Times New Roman" panose="02020603050405020304" pitchFamily="18" charset="0"/>
              </a:rPr>
              <a:t>100—999</a:t>
            </a:r>
            <a:r>
              <a:rPr lang="zh-CN" altLang="zh-CN" sz="2200">
                <a:solidFill>
                  <a:srgbClr val="000000"/>
                </a:solidFill>
                <a:latin typeface="Times New Roman" panose="02020603050405020304" pitchFamily="18" charset="0"/>
                <a:cs typeface="Times New Roman" panose="02020603050405020304" pitchFamily="18" charset="0"/>
              </a:rPr>
              <a:t>中的水仙花数的算法如下</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for i=100 to 999</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a=i\100 '</a:t>
            </a:r>
            <a:r>
              <a:rPr lang="zh-CN" altLang="zh-CN" sz="2200">
                <a:solidFill>
                  <a:srgbClr val="000000"/>
                </a:solidFill>
                <a:latin typeface="Times New Roman" panose="02020603050405020304" pitchFamily="18" charset="0"/>
                <a:cs typeface="Times New Roman" panose="02020603050405020304" pitchFamily="18" charset="0"/>
              </a:rPr>
              <a:t>得到</a:t>
            </a:r>
            <a:r>
              <a:rPr lang="en-US" altLang="zh-CN" sz="2200">
                <a:solidFill>
                  <a:srgbClr val="000000"/>
                </a:solidFill>
                <a:latin typeface="Times New Roman" panose="02020603050405020304" pitchFamily="18" charset="0"/>
                <a:cs typeface="Times New Roman" panose="02020603050405020304" pitchFamily="18" charset="0"/>
              </a:rPr>
              <a:t>i</a:t>
            </a:r>
            <a:r>
              <a:rPr lang="zh-CN" altLang="zh-CN" sz="2200">
                <a:solidFill>
                  <a:srgbClr val="000000"/>
                </a:solidFill>
                <a:latin typeface="Times New Roman" panose="02020603050405020304" pitchFamily="18" charset="0"/>
                <a:cs typeface="Times New Roman" panose="02020603050405020304" pitchFamily="18" charset="0"/>
              </a:rPr>
              <a:t>的百位数字</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b=i\10 mod 10 '</a:t>
            </a:r>
            <a:r>
              <a:rPr lang="zh-CN" altLang="zh-CN" sz="2200">
                <a:solidFill>
                  <a:srgbClr val="000000"/>
                </a:solidFill>
                <a:latin typeface="Times New Roman" panose="02020603050405020304" pitchFamily="18" charset="0"/>
                <a:cs typeface="Times New Roman" panose="02020603050405020304" pitchFamily="18" charset="0"/>
              </a:rPr>
              <a:t>得到</a:t>
            </a:r>
            <a:r>
              <a:rPr lang="en-US" altLang="zh-CN" sz="2200">
                <a:solidFill>
                  <a:srgbClr val="000000"/>
                </a:solidFill>
                <a:latin typeface="Times New Roman" panose="02020603050405020304" pitchFamily="18" charset="0"/>
                <a:cs typeface="Times New Roman" panose="02020603050405020304" pitchFamily="18" charset="0"/>
              </a:rPr>
              <a:t>i</a:t>
            </a:r>
            <a:r>
              <a:rPr lang="zh-CN" altLang="zh-CN" sz="2200">
                <a:solidFill>
                  <a:srgbClr val="000000"/>
                </a:solidFill>
                <a:latin typeface="Times New Roman" panose="02020603050405020304" pitchFamily="18" charset="0"/>
                <a:cs typeface="Times New Roman" panose="02020603050405020304" pitchFamily="18" charset="0"/>
              </a:rPr>
              <a:t>的十位数字</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c=</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u="sng">
                <a:solidFill>
                  <a:srgbClr val="FF0000"/>
                </a:solidFill>
                <a:uFill>
                  <a:solidFill>
                    <a:srgbClr val="000000"/>
                  </a:solidFill>
                </a:uFill>
                <a:latin typeface="NEU-BZ-S92"/>
                <a:cs typeface="宋体" panose="02010600030101010101" pitchFamily="2" charset="-122"/>
              </a:rPr>
              <a:t>①</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if</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i=</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u="sng">
                <a:solidFill>
                  <a:srgbClr val="FF0000"/>
                </a:solidFill>
                <a:uFill>
                  <a:solidFill>
                    <a:srgbClr val="000000"/>
                  </a:solidFill>
                </a:uFill>
                <a:latin typeface="NEU-BZ-S92"/>
                <a:cs typeface="宋体" panose="02010600030101010101" pitchFamily="2" charset="-122"/>
              </a:rPr>
              <a:t>②</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 then print i</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next i</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2" name="五边形 31"/>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33" name="五边形 32"/>
          <p:cNvSpPr/>
          <p:nvPr/>
        </p:nvSpPr>
        <p:spPr>
          <a:xfrm>
            <a:off x="6916239"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grpSp>
        <p:nvGrpSpPr>
          <p:cNvPr id="34" name="组合 33"/>
          <p:cNvGrpSpPr/>
          <p:nvPr/>
        </p:nvGrpSpPr>
        <p:grpSpPr>
          <a:xfrm>
            <a:off x="251520" y="3933055"/>
            <a:ext cx="8640960" cy="2736305"/>
            <a:chOff x="251520" y="1729782"/>
            <a:chExt cx="8640960" cy="2736305"/>
          </a:xfrm>
        </p:grpSpPr>
        <p:grpSp>
          <p:nvGrpSpPr>
            <p:cNvPr id="35" name="组合 34"/>
            <p:cNvGrpSpPr/>
            <p:nvPr/>
          </p:nvGrpSpPr>
          <p:grpSpPr>
            <a:xfrm>
              <a:off x="251520" y="1729782"/>
              <a:ext cx="8640960" cy="2736305"/>
              <a:chOff x="251520" y="-315417"/>
              <a:chExt cx="8640960" cy="2736305"/>
            </a:xfrm>
          </p:grpSpPr>
          <p:sp>
            <p:nvSpPr>
              <p:cNvPr id="37" name="五边形 36"/>
              <p:cNvSpPr/>
              <p:nvPr/>
            </p:nvSpPr>
            <p:spPr>
              <a:xfrm>
                <a:off x="6916239" y="2132856"/>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38" name="燕尾形 37"/>
              <p:cNvSpPr/>
              <p:nvPr/>
            </p:nvSpPr>
            <p:spPr>
              <a:xfrm>
                <a:off x="7031380" y="2209856"/>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39" name="组合 38"/>
              <p:cNvGrpSpPr/>
              <p:nvPr/>
            </p:nvGrpSpPr>
            <p:grpSpPr>
              <a:xfrm>
                <a:off x="251520" y="-315417"/>
                <a:ext cx="8640960" cy="2419297"/>
                <a:chOff x="251520" y="-315417"/>
                <a:chExt cx="8640960" cy="2419297"/>
              </a:xfrm>
            </p:grpSpPr>
            <p:sp>
              <p:nvSpPr>
                <p:cNvPr id="40" name="矩形 39"/>
                <p:cNvSpPr/>
                <p:nvPr/>
              </p:nvSpPr>
              <p:spPr>
                <a:xfrm>
                  <a:off x="251520" y="-315417"/>
                  <a:ext cx="8640960" cy="2419297"/>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28"/>
                <p:cNvSpPr txBox="1"/>
                <p:nvPr/>
              </p:nvSpPr>
              <p:spPr>
                <a:xfrm>
                  <a:off x="8371094" y="-189358"/>
                  <a:ext cx="492443" cy="276999"/>
                </a:xfrm>
                <a:prstGeom prst="rect">
                  <a:avLst/>
                </a:prstGeom>
                <a:noFill/>
              </p:spPr>
              <p:txBody>
                <a:bodyPr wrap="none" rtlCol="0">
                  <a:spAutoFit/>
                </a:bodyPr>
                <a:lstStyle/>
                <a:p>
                  <a:r>
                    <a:rPr lang="zh-CN" altLang="en-US" sz="1200" dirty="0"/>
                    <a:t>关闭</a:t>
                  </a:r>
                </a:p>
              </p:txBody>
            </p:sp>
          </p:grpSp>
        </p:grpSp>
        <p:sp>
          <p:nvSpPr>
            <p:cNvPr id="36" name="矩形 35"/>
            <p:cNvSpPr>
              <a:spLocks noChangeAspect="1"/>
            </p:cNvSpPr>
            <p:nvPr/>
          </p:nvSpPr>
          <p:spPr>
            <a:xfrm>
              <a:off x="508000" y="2154280"/>
              <a:ext cx="8128000" cy="495585"/>
            </a:xfrm>
            <a:prstGeom prst="rect">
              <a:avLst/>
            </a:prstGeom>
          </p:spPr>
          <p:txBody>
            <a:bodyPr>
              <a:spAutoFit/>
            </a:bodyPr>
            <a:lstStyle/>
            <a:p>
              <a:pPr>
                <a:lnSpc>
                  <a:spcPct val="150000"/>
                </a:lnSpc>
                <a:spcAft>
                  <a:spcPts val="0"/>
                </a:spcAft>
                <a:tabLst>
                  <a:tab pos="1029335" algn="l"/>
                  <a:tab pos="1850390" algn="l"/>
                  <a:tab pos="2538095" algn="l"/>
                  <a:tab pos="3221990" algn="l"/>
                </a:tabLst>
              </a:pPr>
              <a:r>
                <a:rPr lang="zh-CN" altLang="zh-CN" sz="2000"/>
                <a:t> </a:t>
              </a:r>
              <a:r>
                <a:rPr lang="en-US" altLang="zh-CN" sz="2000"/>
                <a:t>1</a:t>
              </a:r>
              <a:r>
                <a:rPr lang="zh-CN" altLang="zh-CN" sz="2000"/>
                <a:t>处用于得到</a:t>
              </a:r>
              <a:r>
                <a:rPr lang="en-US" altLang="zh-CN" sz="2000"/>
                <a:t>i</a:t>
              </a:r>
              <a:r>
                <a:rPr lang="zh-CN" altLang="zh-CN" sz="2000"/>
                <a:t>的个位数字。</a:t>
              </a:r>
              <a:endParaRPr lang="zh-CN" altLang="zh-CN" sz="20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nvGrpSpPr>
          <p:cNvPr id="42" name="组合 41"/>
          <p:cNvGrpSpPr/>
          <p:nvPr/>
        </p:nvGrpSpPr>
        <p:grpSpPr>
          <a:xfrm>
            <a:off x="251520" y="5517232"/>
            <a:ext cx="8640960" cy="1152128"/>
            <a:chOff x="251520" y="4752548"/>
            <a:chExt cx="8640960" cy="1152128"/>
          </a:xfrm>
        </p:grpSpPr>
        <p:grpSp>
          <p:nvGrpSpPr>
            <p:cNvPr id="43" name="组合 42"/>
            <p:cNvGrpSpPr/>
            <p:nvPr/>
          </p:nvGrpSpPr>
          <p:grpSpPr>
            <a:xfrm>
              <a:off x="251520" y="4752548"/>
              <a:ext cx="8640960" cy="1152128"/>
              <a:chOff x="251520" y="3755469"/>
              <a:chExt cx="8640960" cy="1152128"/>
            </a:xfrm>
          </p:grpSpPr>
          <p:sp>
            <p:nvSpPr>
              <p:cNvPr id="45" name="五边形 44"/>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46" name="五边形 45"/>
              <p:cNvSpPr/>
              <p:nvPr/>
            </p:nvSpPr>
            <p:spPr>
              <a:xfrm>
                <a:off x="6916239" y="4619565"/>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47" name="燕尾形 46"/>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矩形 47"/>
              <p:cNvSpPr/>
              <p:nvPr/>
            </p:nvSpPr>
            <p:spPr>
              <a:xfrm>
                <a:off x="251520" y="3755469"/>
                <a:ext cx="8640960" cy="836693"/>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TextBox 48"/>
              <p:cNvSpPr txBox="1"/>
              <p:nvPr/>
            </p:nvSpPr>
            <p:spPr>
              <a:xfrm>
                <a:off x="8388424" y="3872081"/>
                <a:ext cx="492443" cy="276999"/>
              </a:xfrm>
              <a:prstGeom prst="rect">
                <a:avLst/>
              </a:prstGeom>
              <a:noFill/>
            </p:spPr>
            <p:txBody>
              <a:bodyPr wrap="none" rtlCol="0">
                <a:spAutoFit/>
              </a:bodyPr>
              <a:lstStyle/>
              <a:p>
                <a:r>
                  <a:rPr lang="zh-CN" altLang="en-US" sz="1200" dirty="0"/>
                  <a:t>关闭</a:t>
                </a:r>
              </a:p>
            </p:txBody>
          </p:sp>
        </p:grpSp>
        <p:sp>
          <p:nvSpPr>
            <p:cNvPr id="44" name="矩形 43"/>
            <p:cNvSpPr>
              <a:spLocks noChangeAspect="1"/>
            </p:cNvSpPr>
            <p:nvPr/>
          </p:nvSpPr>
          <p:spPr>
            <a:xfrm>
              <a:off x="539552" y="5009401"/>
              <a:ext cx="8064896" cy="400110"/>
            </a:xfrm>
            <a:prstGeom prst="rect">
              <a:avLst/>
            </a:prstGeom>
          </p:spPr>
          <p:txBody>
            <a:bodyPr wrap="square">
              <a:spAutoFit/>
            </a:bodyPr>
            <a:lstStyle/>
            <a:p>
              <a:r>
                <a:rPr lang="zh-CN" altLang="zh-CN" sz="2000"/>
                <a:t> </a:t>
              </a:r>
              <a:r>
                <a:rPr lang="en-US" altLang="zh-CN" sz="2000"/>
                <a:t>i mod 10</a:t>
              </a:r>
              <a:r>
                <a:rPr lang="zh-CN" altLang="zh-CN" sz="2000"/>
                <a:t>或</a:t>
              </a:r>
              <a:r>
                <a:rPr lang="en-US" altLang="zh-CN" sz="2000"/>
                <a:t> i-a*100-b*10</a:t>
              </a:r>
              <a:r>
                <a:rPr lang="zh-CN" altLang="zh-CN" sz="2000"/>
                <a:t>　</a:t>
              </a:r>
              <a:r>
                <a:rPr lang="en-US" altLang="zh-CN" sz="2000"/>
                <a:t>a^3+b^3+c^3</a:t>
              </a:r>
              <a:endParaRPr lang="zh-CN" altLang="zh-CN" sz="2000"/>
            </a:p>
          </p:txBody>
        </p:sp>
      </p:grpSp>
    </p:spTree>
    <p:extLst>
      <p:ext uri="{BB962C8B-B14F-4D97-AF65-F5344CB8AC3E}">
        <p14:creationId xmlns:p14="http://schemas.microsoft.com/office/powerpoint/2010/main" val="1071035923"/>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3"/>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childTnLst>
              </p:cTn>
              <p:nextCondLst>
                <p:cond evt="onClick" delay="0">
                  <p:tgtEl>
                    <p:spTgt spid="33"/>
                  </p:tgtEl>
                </p:cond>
              </p:nextCondLst>
            </p:seq>
            <p:seq concurrent="1" nextAc="seek">
              <p:cTn id="8" restart="whenNotActive" fill="hold" evtFilter="cancelBubble" nodeType="interactiveSeq">
                <p:stCondLst>
                  <p:cond evt="onClick" delay="0">
                    <p:tgtEl>
                      <p:spTgt spid="34"/>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34"/>
                                        </p:tgtEl>
                                      </p:cBhvr>
                                    </p:animEffect>
                                    <p:set>
                                      <p:cBhvr>
                                        <p:cTn id="13"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down)">
                                      <p:cBhvr>
                                        <p:cTn id="19" dur="500"/>
                                        <p:tgtEl>
                                          <p:spTgt spid="42"/>
                                        </p:tgtEl>
                                      </p:cBhvr>
                                    </p:animEffect>
                                  </p:childTnLst>
                                </p:cTn>
                              </p:par>
                            </p:childTnLst>
                          </p:cTn>
                        </p:par>
                      </p:childTnLst>
                    </p:cTn>
                  </p:par>
                </p:childTnLst>
              </p:cTn>
              <p:nextCondLst>
                <p:cond evt="onClick" delay="0">
                  <p:tgtEl>
                    <p:spTgt spid="32"/>
                  </p:tgtEl>
                </p:cond>
              </p:nextCondLst>
            </p:seq>
            <p:seq concurrent="1" nextAc="seek">
              <p:cTn id="20" restart="whenNotActive" fill="hold" evtFilter="cancelBubble" nodeType="interactiveSeq">
                <p:stCondLst>
                  <p:cond evt="onClick" delay="0">
                    <p:tgtEl>
                      <p:spTgt spid="42"/>
                    </p:tgtEl>
                  </p:cond>
                </p:stCondLst>
                <p:endSync evt="end" delay="0">
                  <p:rtn val="all"/>
                </p:endSync>
                <p:childTnLst>
                  <p:par>
                    <p:cTn id="21" fill="hold">
                      <p:stCondLst>
                        <p:cond delay="0"/>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42"/>
                                        </p:tgtEl>
                                      </p:cBhvr>
                                    </p:animEffect>
                                    <p:set>
                                      <p:cBhvr>
                                        <p:cTn id="25" dur="1" fill="hold">
                                          <p:stCondLst>
                                            <p:cond delay="499"/>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17</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3" name="椭圆 12">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4" name="矩形 3"/>
          <p:cNvSpPr>
            <a:spLocks noChangeAspect="1"/>
          </p:cNvSpPr>
          <p:nvPr/>
        </p:nvSpPr>
        <p:spPr>
          <a:xfrm>
            <a:off x="508000" y="1477762"/>
            <a:ext cx="8128000" cy="503522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3</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有一个</a:t>
            </a:r>
            <a:r>
              <a:rPr lang="en-US" altLang="zh-CN" sz="2200">
                <a:solidFill>
                  <a:srgbClr val="000000"/>
                </a:solidFill>
                <a:latin typeface="Times New Roman" panose="02020603050405020304" pitchFamily="18" charset="0"/>
                <a:cs typeface="Times New Roman" panose="02020603050405020304" pitchFamily="18" charset="0"/>
              </a:rPr>
              <a:t>5</a:t>
            </a:r>
            <a:r>
              <a:rPr lang="zh-CN" altLang="zh-CN" sz="2200">
                <a:solidFill>
                  <a:srgbClr val="000000"/>
                </a:solidFill>
                <a:latin typeface="Times New Roman" panose="02020603050405020304" pitchFamily="18" charset="0"/>
                <a:cs typeface="Times New Roman" panose="02020603050405020304" pitchFamily="18" charset="0"/>
              </a:rPr>
              <a:t>位数编号</a:t>
            </a:r>
            <a:r>
              <a:rPr lang="en-US" altLang="zh-CN" sz="2200">
                <a:solidFill>
                  <a:srgbClr val="000000"/>
                </a:solidFill>
                <a:latin typeface="Times New Roman" panose="02020603050405020304" pitchFamily="18" charset="0"/>
                <a:cs typeface="Times New Roman" panose="02020603050405020304" pitchFamily="18" charset="0"/>
              </a:rPr>
              <a:t>:14??7,</a:t>
            </a:r>
            <a:r>
              <a:rPr lang="zh-CN" altLang="zh-CN" sz="2200">
                <a:solidFill>
                  <a:srgbClr val="000000"/>
                </a:solidFill>
                <a:latin typeface="Times New Roman" panose="02020603050405020304" pitchFamily="18" charset="0"/>
                <a:cs typeface="Times New Roman" panose="02020603050405020304" pitchFamily="18" charset="0"/>
              </a:rPr>
              <a:t>其百位数和十位数未知</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它是</a:t>
            </a:r>
            <a:r>
              <a:rPr lang="en-US" altLang="zh-CN" sz="2200">
                <a:solidFill>
                  <a:srgbClr val="000000"/>
                </a:solidFill>
                <a:latin typeface="Times New Roman" panose="02020603050405020304" pitchFamily="18" charset="0"/>
                <a:cs typeface="Times New Roman" panose="02020603050405020304" pitchFamily="18" charset="0"/>
              </a:rPr>
              <a:t>37</a:t>
            </a:r>
            <a:r>
              <a:rPr lang="zh-CN" altLang="zh-CN" sz="2200">
                <a:solidFill>
                  <a:srgbClr val="000000"/>
                </a:solidFill>
                <a:latin typeface="Times New Roman" panose="02020603050405020304" pitchFamily="18" charset="0"/>
                <a:cs typeface="Times New Roman" panose="02020603050405020304" pitchFamily="18" charset="0"/>
              </a:rPr>
              <a:t>或</a:t>
            </a:r>
            <a:r>
              <a:rPr lang="en-US" altLang="zh-CN" sz="2200">
                <a:solidFill>
                  <a:srgbClr val="000000"/>
                </a:solidFill>
                <a:latin typeface="Times New Roman" panose="02020603050405020304" pitchFamily="18" charset="0"/>
                <a:cs typeface="Times New Roman" panose="02020603050405020304" pitchFamily="18" charset="0"/>
              </a:rPr>
              <a:t>67</a:t>
            </a:r>
            <a:r>
              <a:rPr lang="zh-CN" altLang="zh-CN" sz="2200">
                <a:solidFill>
                  <a:srgbClr val="000000"/>
                </a:solidFill>
                <a:latin typeface="Times New Roman" panose="02020603050405020304" pitchFamily="18" charset="0"/>
                <a:cs typeface="Times New Roman" panose="02020603050405020304" pitchFamily="18" charset="0"/>
              </a:rPr>
              <a:t>的倍数。现要设计一个算法</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找出所有满足这些条件的</a:t>
            </a:r>
            <a:r>
              <a:rPr lang="en-US" altLang="zh-CN" sz="2200">
                <a:solidFill>
                  <a:srgbClr val="000000"/>
                </a:solidFill>
                <a:latin typeface="Times New Roman" panose="02020603050405020304" pitchFamily="18" charset="0"/>
                <a:cs typeface="Times New Roman" panose="02020603050405020304" pitchFamily="18" charset="0"/>
              </a:rPr>
              <a:t>5</a:t>
            </a:r>
            <a:r>
              <a:rPr lang="zh-CN" altLang="zh-CN" sz="2200">
                <a:solidFill>
                  <a:srgbClr val="000000"/>
                </a:solidFill>
                <a:latin typeface="Times New Roman" panose="02020603050405020304" pitchFamily="18" charset="0"/>
                <a:cs typeface="Times New Roman" panose="02020603050405020304" pitchFamily="18" charset="0"/>
              </a:rPr>
              <a:t>位数</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并统计这些</a:t>
            </a:r>
            <a:r>
              <a:rPr lang="en-US" altLang="zh-CN" sz="2200">
                <a:solidFill>
                  <a:srgbClr val="000000"/>
                </a:solidFill>
                <a:latin typeface="Times New Roman" panose="02020603050405020304" pitchFamily="18" charset="0"/>
                <a:cs typeface="Times New Roman" panose="02020603050405020304" pitchFamily="18" charset="0"/>
              </a:rPr>
              <a:t>5</a:t>
            </a:r>
            <a:r>
              <a:rPr lang="zh-CN" altLang="zh-CN" sz="2200">
                <a:solidFill>
                  <a:srgbClr val="000000"/>
                </a:solidFill>
                <a:latin typeface="Times New Roman" panose="02020603050405020304" pitchFamily="18" charset="0"/>
                <a:cs typeface="Times New Roman" panose="02020603050405020304" pitchFamily="18" charset="0"/>
              </a:rPr>
              <a:t>位数的个数。请在程序划线处填入合适的代码。</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 im i As Integer,j As Integer,n As Integer</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For i=0 To 99</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j=</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①</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构造出一个五位数</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②</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 Then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List1.AddItemstr(j)</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n=n+1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Text1.Text=Str(n)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Next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五边形 14"/>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16" name="五边形 15"/>
          <p:cNvSpPr/>
          <p:nvPr/>
        </p:nvSpPr>
        <p:spPr>
          <a:xfrm>
            <a:off x="6916239"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grpSp>
        <p:nvGrpSpPr>
          <p:cNvPr id="17" name="组合 16"/>
          <p:cNvGrpSpPr/>
          <p:nvPr/>
        </p:nvGrpSpPr>
        <p:grpSpPr>
          <a:xfrm>
            <a:off x="251520" y="3933055"/>
            <a:ext cx="8640960" cy="2736305"/>
            <a:chOff x="251520" y="1729782"/>
            <a:chExt cx="8640960" cy="2736305"/>
          </a:xfrm>
        </p:grpSpPr>
        <p:grpSp>
          <p:nvGrpSpPr>
            <p:cNvPr id="18" name="组合 17"/>
            <p:cNvGrpSpPr/>
            <p:nvPr/>
          </p:nvGrpSpPr>
          <p:grpSpPr>
            <a:xfrm>
              <a:off x="251520" y="1729782"/>
              <a:ext cx="8640960" cy="2736305"/>
              <a:chOff x="251520" y="-315417"/>
              <a:chExt cx="8640960" cy="2736305"/>
            </a:xfrm>
          </p:grpSpPr>
          <p:sp>
            <p:nvSpPr>
              <p:cNvPr id="20" name="五边形 19"/>
              <p:cNvSpPr/>
              <p:nvPr/>
            </p:nvSpPr>
            <p:spPr>
              <a:xfrm>
                <a:off x="6916239" y="2132856"/>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21" name="燕尾形 20"/>
              <p:cNvSpPr/>
              <p:nvPr/>
            </p:nvSpPr>
            <p:spPr>
              <a:xfrm>
                <a:off x="7031380" y="2209856"/>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2" name="组合 21"/>
              <p:cNvGrpSpPr/>
              <p:nvPr/>
            </p:nvGrpSpPr>
            <p:grpSpPr>
              <a:xfrm>
                <a:off x="251520" y="-315417"/>
                <a:ext cx="8640960" cy="2419297"/>
                <a:chOff x="251520" y="-315417"/>
                <a:chExt cx="8640960" cy="2419297"/>
              </a:xfrm>
            </p:grpSpPr>
            <p:sp>
              <p:nvSpPr>
                <p:cNvPr id="23" name="矩形 22"/>
                <p:cNvSpPr/>
                <p:nvPr/>
              </p:nvSpPr>
              <p:spPr>
                <a:xfrm>
                  <a:off x="251520" y="-315417"/>
                  <a:ext cx="8640960" cy="2419297"/>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28"/>
                <p:cNvSpPr txBox="1"/>
                <p:nvPr/>
              </p:nvSpPr>
              <p:spPr>
                <a:xfrm>
                  <a:off x="8371094" y="-189358"/>
                  <a:ext cx="492443" cy="276999"/>
                </a:xfrm>
                <a:prstGeom prst="rect">
                  <a:avLst/>
                </a:prstGeom>
                <a:noFill/>
              </p:spPr>
              <p:txBody>
                <a:bodyPr wrap="none" rtlCol="0">
                  <a:spAutoFit/>
                </a:bodyPr>
                <a:lstStyle/>
                <a:p>
                  <a:r>
                    <a:rPr lang="zh-CN" altLang="en-US" sz="1200" dirty="0"/>
                    <a:t>关闭</a:t>
                  </a:r>
                </a:p>
              </p:txBody>
            </p:sp>
          </p:grpSp>
        </p:grpSp>
        <p:sp>
          <p:nvSpPr>
            <p:cNvPr id="19" name="矩形 18"/>
            <p:cNvSpPr>
              <a:spLocks noChangeAspect="1"/>
            </p:cNvSpPr>
            <p:nvPr/>
          </p:nvSpPr>
          <p:spPr>
            <a:xfrm>
              <a:off x="508000" y="2154280"/>
              <a:ext cx="8128000" cy="1477328"/>
            </a:xfrm>
            <a:prstGeom prst="rect">
              <a:avLst/>
            </a:prstGeom>
          </p:spPr>
          <p:txBody>
            <a:bodyPr>
              <a:spAutoFit/>
            </a:bodyPr>
            <a:lstStyle/>
            <a:p>
              <a:pPr>
                <a:lnSpc>
                  <a:spcPct val="150000"/>
                </a:lnSpc>
                <a:spcAft>
                  <a:spcPts val="0"/>
                </a:spcAft>
                <a:tabLst>
                  <a:tab pos="1029335" algn="l"/>
                  <a:tab pos="1850390" algn="l"/>
                  <a:tab pos="2538095" algn="l"/>
                  <a:tab pos="3221990" algn="l"/>
                </a:tabLst>
              </a:pPr>
              <a:r>
                <a:rPr lang="zh-CN" altLang="zh-CN" sz="2000"/>
                <a:t>程序采用枚举法</a:t>
              </a:r>
              <a:r>
                <a:rPr lang="en-US" altLang="zh-CN" sz="2000"/>
                <a:t>,</a:t>
              </a:r>
              <a:r>
                <a:rPr lang="zh-CN" altLang="zh-CN" sz="2000"/>
                <a:t>对十位和百位数字进行枚举</a:t>
              </a:r>
              <a:r>
                <a:rPr lang="en-US" altLang="zh-CN" sz="2000"/>
                <a:t>,</a:t>
              </a:r>
              <a:r>
                <a:rPr lang="zh-CN" altLang="zh-CN" sz="2000"/>
                <a:t>枚举范围</a:t>
              </a:r>
              <a:r>
                <a:rPr lang="en-US" altLang="zh-CN" sz="2000"/>
                <a:t>i</a:t>
              </a:r>
              <a:r>
                <a:rPr lang="zh-CN" altLang="zh-CN" sz="2000"/>
                <a:t>是</a:t>
              </a:r>
              <a:r>
                <a:rPr lang="en-US" altLang="zh-CN" sz="2000"/>
                <a:t>00</a:t>
              </a:r>
              <a:r>
                <a:rPr lang="zh-CN" altLang="zh-CN" sz="2000"/>
                <a:t>到</a:t>
              </a:r>
              <a:r>
                <a:rPr lang="en-US" altLang="zh-CN" sz="2000"/>
                <a:t>99,</a:t>
              </a:r>
              <a:r>
                <a:rPr lang="zh-CN" altLang="zh-CN" sz="2000"/>
                <a:t>由此得到完整的五位数字</a:t>
              </a:r>
              <a:r>
                <a:rPr lang="en-US" altLang="zh-CN" sz="2000"/>
                <a:t>j=14000+7+i</a:t>
              </a:r>
              <a:r>
                <a:rPr lang="en-US" altLang="zh-CN" sz="2000" baseline="-25000"/>
                <a:t>*</a:t>
              </a:r>
              <a:r>
                <a:rPr lang="en-US" altLang="zh-CN" sz="2000"/>
                <a:t>10,</a:t>
              </a:r>
              <a:r>
                <a:rPr lang="zh-CN" altLang="zh-CN" sz="2000"/>
                <a:t>然后判断</a:t>
              </a:r>
              <a:r>
                <a:rPr lang="en-US" altLang="zh-CN" sz="2000"/>
                <a:t>j</a:t>
              </a:r>
              <a:r>
                <a:rPr lang="zh-CN" altLang="zh-CN" sz="2000"/>
                <a:t>是否能被</a:t>
              </a:r>
              <a:r>
                <a:rPr lang="en-US" altLang="zh-CN" sz="2000"/>
                <a:t>37</a:t>
              </a:r>
              <a:r>
                <a:rPr lang="zh-CN" altLang="zh-CN" sz="2000"/>
                <a:t>和</a:t>
              </a:r>
              <a:r>
                <a:rPr lang="en-US" altLang="zh-CN" sz="2000"/>
                <a:t>67</a:t>
              </a:r>
              <a:r>
                <a:rPr lang="zh-CN" altLang="zh-CN" sz="2000"/>
                <a:t>整除</a:t>
              </a:r>
              <a:r>
                <a:rPr lang="en-US" altLang="zh-CN" sz="2000"/>
                <a:t>,</a:t>
              </a:r>
              <a:r>
                <a:rPr lang="zh-CN" altLang="zh-CN" sz="2000"/>
                <a:t>能则显示该数。</a:t>
              </a:r>
              <a:endParaRPr lang="zh-CN" altLang="zh-CN" sz="20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nvGrpSpPr>
          <p:cNvPr id="26" name="组合 25"/>
          <p:cNvGrpSpPr/>
          <p:nvPr/>
        </p:nvGrpSpPr>
        <p:grpSpPr>
          <a:xfrm>
            <a:off x="251520" y="5517232"/>
            <a:ext cx="8640960" cy="1152128"/>
            <a:chOff x="251520" y="4752548"/>
            <a:chExt cx="8640960" cy="1152128"/>
          </a:xfrm>
        </p:grpSpPr>
        <p:grpSp>
          <p:nvGrpSpPr>
            <p:cNvPr id="27" name="组合 26"/>
            <p:cNvGrpSpPr/>
            <p:nvPr/>
          </p:nvGrpSpPr>
          <p:grpSpPr>
            <a:xfrm>
              <a:off x="251520" y="4752548"/>
              <a:ext cx="8640960" cy="1152128"/>
              <a:chOff x="251520" y="3755469"/>
              <a:chExt cx="8640960" cy="1152128"/>
            </a:xfrm>
          </p:grpSpPr>
          <p:sp>
            <p:nvSpPr>
              <p:cNvPr id="29" name="五边形 28"/>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30" name="五边形 29"/>
              <p:cNvSpPr/>
              <p:nvPr/>
            </p:nvSpPr>
            <p:spPr>
              <a:xfrm>
                <a:off x="6916239" y="4619565"/>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31" name="燕尾形 30"/>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矩形 31"/>
              <p:cNvSpPr/>
              <p:nvPr/>
            </p:nvSpPr>
            <p:spPr>
              <a:xfrm>
                <a:off x="251520" y="3755469"/>
                <a:ext cx="8640960" cy="836693"/>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48"/>
              <p:cNvSpPr txBox="1"/>
              <p:nvPr/>
            </p:nvSpPr>
            <p:spPr>
              <a:xfrm>
                <a:off x="8388424" y="3872081"/>
                <a:ext cx="492443" cy="276999"/>
              </a:xfrm>
              <a:prstGeom prst="rect">
                <a:avLst/>
              </a:prstGeom>
              <a:noFill/>
            </p:spPr>
            <p:txBody>
              <a:bodyPr wrap="none" rtlCol="0">
                <a:spAutoFit/>
              </a:bodyPr>
              <a:lstStyle/>
              <a:p>
                <a:r>
                  <a:rPr lang="zh-CN" altLang="en-US" sz="1200" dirty="0"/>
                  <a:t>关闭</a:t>
                </a:r>
              </a:p>
            </p:txBody>
          </p:sp>
        </p:grpSp>
        <p:sp>
          <p:nvSpPr>
            <p:cNvPr id="28" name="矩形 27"/>
            <p:cNvSpPr>
              <a:spLocks noChangeAspect="1"/>
            </p:cNvSpPr>
            <p:nvPr/>
          </p:nvSpPr>
          <p:spPr>
            <a:xfrm>
              <a:off x="539552" y="5009401"/>
              <a:ext cx="8064896" cy="400110"/>
            </a:xfrm>
            <a:prstGeom prst="rect">
              <a:avLst/>
            </a:prstGeom>
          </p:spPr>
          <p:txBody>
            <a:bodyPr wrap="square">
              <a:spAutoFit/>
            </a:bodyPr>
            <a:lstStyle/>
            <a:p>
              <a:r>
                <a:rPr lang="en-US" altLang="zh-CN" sz="2000"/>
                <a:t>①14000+7+i</a:t>
              </a:r>
              <a:r>
                <a:rPr lang="en-US" altLang="zh-CN" sz="2000" baseline="-25000"/>
                <a:t>*</a:t>
              </a:r>
              <a:r>
                <a:rPr lang="en-US" altLang="zh-CN" sz="2000"/>
                <a:t> 10②(j Mod 37=0) And(j Mod 67=0)</a:t>
              </a:r>
              <a:endParaRPr lang="zh-CN" altLang="zh-CN" sz="2000"/>
            </a:p>
          </p:txBody>
        </p:sp>
      </p:grpSp>
    </p:spTree>
    <p:extLst>
      <p:ext uri="{BB962C8B-B14F-4D97-AF65-F5344CB8AC3E}">
        <p14:creationId xmlns:p14="http://schemas.microsoft.com/office/powerpoint/2010/main" val="892217825"/>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4" restart="whenNotActive" fill="hold" evtFilter="cancelBubble" nodeType="interactiveSeq">
                <p:stCondLst>
                  <p:cond evt="onClick" delay="0">
                    <p:tgtEl>
                      <p:spTgt spid="15"/>
                    </p:tgtEl>
                  </p:cond>
                </p:stCondLst>
                <p:endSync evt="end" delay="0">
                  <p:rtn val="all"/>
                </p:endSync>
                <p:childTnLst>
                  <p:par>
                    <p:cTn id="15" fill="hold">
                      <p:stCondLst>
                        <p:cond delay="0"/>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500"/>
                                        <p:tgtEl>
                                          <p:spTgt spid="26"/>
                                        </p:tgtEl>
                                      </p:cBhvr>
                                    </p:animEffect>
                                  </p:childTnLst>
                                </p:cTn>
                              </p:par>
                            </p:childTnLst>
                          </p:cTn>
                        </p:par>
                      </p:childTnLst>
                    </p:cTn>
                  </p:par>
                </p:childTnLst>
              </p:cTn>
              <p:nextCondLst>
                <p:cond evt="onClick" delay="0">
                  <p:tgtEl>
                    <p:spTgt spid="15"/>
                  </p:tgtEl>
                </p:cond>
              </p:nextCondLst>
            </p:seq>
            <p:seq concurrent="1" nextAc="seek">
              <p:cTn id="20" restart="whenNotActive" fill="hold" evtFilter="cancelBubble" nodeType="interactiveSeq">
                <p:stCondLst>
                  <p:cond evt="onClick" delay="0">
                    <p:tgtEl>
                      <p:spTgt spid="26"/>
                    </p:tgtEl>
                  </p:cond>
                </p:stCondLst>
                <p:endSync evt="end" delay="0">
                  <p:rtn val="all"/>
                </p:endSync>
                <p:childTnLst>
                  <p:par>
                    <p:cTn id="21" fill="hold">
                      <p:stCondLst>
                        <p:cond delay="0"/>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26"/>
                                        </p:tgtEl>
                                      </p:cBhvr>
                                    </p:animEffect>
                                    <p:set>
                                      <p:cBhvr>
                                        <p:cTn id="25"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18</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2" name="椭圆 11">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4" name="矩形 3"/>
          <p:cNvSpPr>
            <a:spLocks noChangeAspect="1"/>
          </p:cNvSpPr>
          <p:nvPr/>
        </p:nvSpPr>
        <p:spPr>
          <a:xfrm>
            <a:off x="508000" y="2919864"/>
            <a:ext cx="8128000" cy="127227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4</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用蒙特卡罗法求</a:t>
            </a:r>
            <a:r>
              <a:rPr lang="en-US" altLang="zh-CN" sz="22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zh-CN" altLang="zh-CN" sz="2200">
                <a:solidFill>
                  <a:srgbClr val="000000"/>
                </a:solidFill>
                <a:latin typeface="Times New Roman" panose="02020603050405020304" pitchFamily="18" charset="0"/>
                <a:cs typeface="Times New Roman" panose="02020603050405020304" pitchFamily="18" charset="0"/>
              </a:rPr>
              <a:t>的近似值</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使用随机函数</a:t>
            </a:r>
            <a:r>
              <a:rPr lang="en-US" altLang="zh-CN" sz="2200">
                <a:solidFill>
                  <a:srgbClr val="000000"/>
                </a:solidFill>
                <a:latin typeface="Times New Roman" panose="02020603050405020304" pitchFamily="18" charset="0"/>
                <a:cs typeface="Times New Roman" panose="02020603050405020304" pitchFamily="18" charset="0"/>
              </a:rPr>
              <a:t>RND</a:t>
            </a:r>
            <a:r>
              <a:rPr lang="zh-CN" altLang="zh-CN" sz="2200">
                <a:solidFill>
                  <a:srgbClr val="000000"/>
                </a:solidFill>
                <a:latin typeface="Times New Roman" panose="02020603050405020304" pitchFamily="18" charset="0"/>
                <a:cs typeface="Times New Roman" panose="02020603050405020304" pitchFamily="18" charset="0"/>
              </a:rPr>
              <a:t>生成一个点的坐标</a:t>
            </a:r>
            <a:r>
              <a:rPr lang="en-US" altLang="zh-CN" sz="2200">
                <a:solidFill>
                  <a:srgbClr val="000000"/>
                </a:solidFill>
                <a:latin typeface="Times New Roman" panose="02020603050405020304" pitchFamily="18" charset="0"/>
                <a:cs typeface="Times New Roman" panose="02020603050405020304" pitchFamily="18" charset="0"/>
              </a:rPr>
              <a:t>(x,y),</a:t>
            </a:r>
            <a:r>
              <a:rPr lang="zh-CN" altLang="zh-CN" sz="2200">
                <a:solidFill>
                  <a:srgbClr val="000000"/>
                </a:solidFill>
                <a:latin typeface="Times New Roman" panose="02020603050405020304" pitchFamily="18" charset="0"/>
                <a:cs typeface="Times New Roman" panose="02020603050405020304" pitchFamily="18" charset="0"/>
              </a:rPr>
              <a:t>如果</a:t>
            </a:r>
            <a:r>
              <a:rPr lang="en-US" altLang="zh-CN" sz="2200">
                <a:solidFill>
                  <a:srgbClr val="000000"/>
                </a:solidFill>
                <a:latin typeface="Times New Roman" panose="02020603050405020304" pitchFamily="18" charset="0"/>
                <a:cs typeface="Times New Roman" panose="02020603050405020304" pitchFamily="18" charset="0"/>
              </a:rPr>
              <a:t>x</a:t>
            </a:r>
            <a:r>
              <a:rPr lang="en-US" altLang="zh-CN" sz="2200" baseline="30000">
                <a:solidFill>
                  <a:srgbClr val="000000"/>
                </a:solidFill>
                <a:latin typeface="Times New Roman" panose="02020603050405020304" pitchFamily="18" charset="0"/>
                <a:cs typeface="Times New Roman" panose="02020603050405020304" pitchFamily="18" charset="0"/>
              </a:rPr>
              <a:t>2</a:t>
            </a:r>
            <a:r>
              <a:rPr lang="en-US" altLang="zh-CN" sz="2200">
                <a:solidFill>
                  <a:srgbClr val="000000"/>
                </a:solidFill>
                <a:latin typeface="Times New Roman" panose="02020603050405020304" pitchFamily="18" charset="0"/>
                <a:cs typeface="Times New Roman" panose="02020603050405020304" pitchFamily="18" charset="0"/>
              </a:rPr>
              <a:t>+y</a:t>
            </a:r>
            <a:r>
              <a:rPr lang="en-US" altLang="zh-CN" sz="2200" baseline="30000">
                <a:solidFill>
                  <a:srgbClr val="000000"/>
                </a:solidFill>
                <a:latin typeface="Times New Roman" panose="02020603050405020304" pitchFamily="18" charset="0"/>
                <a:cs typeface="Times New Roman" panose="02020603050405020304" pitchFamily="18" charset="0"/>
              </a:rPr>
              <a:t>2</a:t>
            </a:r>
            <a:r>
              <a:rPr lang="en-US" altLang="zh-CN" sz="2200">
                <a:solidFill>
                  <a:srgbClr val="000000"/>
                </a:solidFill>
                <a:latin typeface="NEU-BZ" panose="03000500000000000000" pitchFamily="66" charset="-122"/>
                <a:ea typeface="方正书宋_GBK" panose="03000509000000000000" pitchFamily="65" charset="-122"/>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说明落点在单位圆内。总共投点</a:t>
            </a:r>
            <a:r>
              <a:rPr lang="en-US" altLang="zh-CN" sz="2200">
                <a:solidFill>
                  <a:srgbClr val="000000"/>
                </a:solidFill>
                <a:latin typeface="Times New Roman" panose="02020603050405020304" pitchFamily="18" charset="0"/>
                <a:cs typeface="Times New Roman" panose="02020603050405020304" pitchFamily="18" charset="0"/>
              </a:rPr>
              <a:t>n</a:t>
            </a:r>
            <a:r>
              <a:rPr lang="zh-CN" altLang="zh-CN" sz="2200">
                <a:solidFill>
                  <a:srgbClr val="000000"/>
                </a:solidFill>
                <a:latin typeface="Times New Roman" panose="02020603050405020304" pitchFamily="18" charset="0"/>
                <a:cs typeface="Times New Roman" panose="02020603050405020304" pitchFamily="18" charset="0"/>
              </a:rPr>
              <a:t>次</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统计落点在单位圆内的点数为</a:t>
            </a:r>
            <a:r>
              <a:rPr lang="en-US" altLang="zh-CN" sz="2200">
                <a:solidFill>
                  <a:srgbClr val="000000"/>
                </a:solidFill>
                <a:latin typeface="Times New Roman" panose="02020603050405020304" pitchFamily="18" charset="0"/>
                <a:cs typeface="Times New Roman" panose="02020603050405020304" pitchFamily="18" charset="0"/>
              </a:rPr>
              <a:t>s,</a:t>
            </a:r>
            <a:r>
              <a:rPr lang="zh-CN" altLang="zh-CN" sz="2200">
                <a:solidFill>
                  <a:srgbClr val="000000"/>
                </a:solidFill>
                <a:latin typeface="Times New Roman" panose="02020603050405020304" pitchFamily="18" charset="0"/>
                <a:cs typeface="Times New Roman" panose="02020603050405020304" pitchFamily="18" charset="0"/>
              </a:rPr>
              <a:t>则</a:t>
            </a:r>
            <a:r>
              <a:rPr lang="en-US" altLang="zh-CN" sz="2200">
                <a:solidFill>
                  <a:srgbClr val="000000"/>
                </a:solidFill>
                <a:latin typeface="Times New Roman" panose="02020603050405020304" pitchFamily="18" charset="0"/>
                <a:cs typeface="Times New Roman" panose="02020603050405020304" pitchFamily="18" charset="0"/>
              </a:rPr>
              <a:t>4s/n</a:t>
            </a:r>
            <a:r>
              <a:rPr lang="zh-CN" altLang="zh-CN" sz="2200">
                <a:solidFill>
                  <a:srgbClr val="000000"/>
                </a:solidFill>
                <a:latin typeface="Times New Roman" panose="02020603050405020304" pitchFamily="18" charset="0"/>
                <a:cs typeface="Times New Roman" panose="02020603050405020304" pitchFamily="18" charset="0"/>
              </a:rPr>
              <a:t>的值即为所求的</a:t>
            </a:r>
            <a:r>
              <a:rPr lang="en-US" altLang="zh-CN" sz="22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zh-CN" altLang="zh-CN" sz="2200">
                <a:solidFill>
                  <a:srgbClr val="000000"/>
                </a:solidFill>
                <a:latin typeface="Times New Roman" panose="02020603050405020304" pitchFamily="18" charset="0"/>
                <a:cs typeface="Times New Roman" panose="02020603050405020304" pitchFamily="18" charset="0"/>
              </a:rPr>
              <a:t>值。请完善程序</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87273302"/>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19</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3" name="椭圆 12">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5" name="矩形 4"/>
          <p:cNvSpPr>
            <a:spLocks noChangeAspect="1"/>
          </p:cNvSpPr>
          <p:nvPr/>
        </p:nvSpPr>
        <p:spPr>
          <a:xfrm>
            <a:off x="508000" y="1340768"/>
            <a:ext cx="8128000" cy="5509200"/>
          </a:xfrm>
          <a:prstGeom prst="rect">
            <a:avLst/>
          </a:prstGeom>
        </p:spPr>
        <p:txBody>
          <a:bodyPr>
            <a:spAutoFit/>
          </a:bodyPr>
          <a:lstStyle/>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i as long,n as long,s as long,x as double,y as double,r as double</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n=val(text1.text)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s=0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randomize</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do</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while</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①</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x=rnd():y=rnd()</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r=</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②</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r&lt;=1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③</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i=i+1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loop</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label1.caption=</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④</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显示</a:t>
            </a:r>
            <a:r>
              <a:rPr lang="en-US" altLang="zh-CN" sz="22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zh-CN" altLang="zh-CN" sz="2200">
                <a:solidFill>
                  <a:srgbClr val="000000"/>
                </a:solidFill>
                <a:latin typeface="Times New Roman" panose="02020603050405020304" pitchFamily="18" charset="0"/>
                <a:cs typeface="Times New Roman" panose="02020603050405020304" pitchFamily="18" charset="0"/>
              </a:rPr>
              <a:t>的值</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五边形 14"/>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grpSp>
        <p:nvGrpSpPr>
          <p:cNvPr id="16" name="组合 15"/>
          <p:cNvGrpSpPr/>
          <p:nvPr/>
        </p:nvGrpSpPr>
        <p:grpSpPr>
          <a:xfrm>
            <a:off x="251520" y="5297118"/>
            <a:ext cx="8640960" cy="1372242"/>
            <a:chOff x="251520" y="4532434"/>
            <a:chExt cx="8640960" cy="1372242"/>
          </a:xfrm>
        </p:grpSpPr>
        <p:grpSp>
          <p:nvGrpSpPr>
            <p:cNvPr id="17" name="组合 16"/>
            <p:cNvGrpSpPr/>
            <p:nvPr/>
          </p:nvGrpSpPr>
          <p:grpSpPr>
            <a:xfrm>
              <a:off x="251520" y="4532434"/>
              <a:ext cx="8640960" cy="1372242"/>
              <a:chOff x="251520" y="3535355"/>
              <a:chExt cx="8640960" cy="1372242"/>
            </a:xfrm>
          </p:grpSpPr>
          <p:sp>
            <p:nvSpPr>
              <p:cNvPr id="19" name="五边形 18"/>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20" name="燕尾形 19"/>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矩形 20"/>
              <p:cNvSpPr/>
              <p:nvPr/>
            </p:nvSpPr>
            <p:spPr>
              <a:xfrm>
                <a:off x="251520" y="3535355"/>
                <a:ext cx="8640960" cy="1056807"/>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extBox 48"/>
              <p:cNvSpPr txBox="1"/>
              <p:nvPr/>
            </p:nvSpPr>
            <p:spPr>
              <a:xfrm>
                <a:off x="8388424" y="3607363"/>
                <a:ext cx="492443" cy="276999"/>
              </a:xfrm>
              <a:prstGeom prst="rect">
                <a:avLst/>
              </a:prstGeom>
              <a:noFill/>
            </p:spPr>
            <p:txBody>
              <a:bodyPr wrap="none" rtlCol="0">
                <a:spAutoFit/>
              </a:bodyPr>
              <a:lstStyle/>
              <a:p>
                <a:r>
                  <a:rPr lang="zh-CN" altLang="en-US" sz="1200" dirty="0"/>
                  <a:t>关闭</a:t>
                </a:r>
              </a:p>
            </p:txBody>
          </p:sp>
        </p:grpSp>
        <p:sp>
          <p:nvSpPr>
            <p:cNvPr id="18" name="矩形 17"/>
            <p:cNvSpPr>
              <a:spLocks noChangeAspect="1"/>
            </p:cNvSpPr>
            <p:nvPr/>
          </p:nvSpPr>
          <p:spPr>
            <a:xfrm>
              <a:off x="539552" y="4890238"/>
              <a:ext cx="8064896" cy="400110"/>
            </a:xfrm>
            <a:prstGeom prst="rect">
              <a:avLst/>
            </a:prstGeom>
          </p:spPr>
          <p:txBody>
            <a:bodyPr wrap="square">
              <a:spAutoFit/>
            </a:bodyPr>
            <a:lstStyle/>
            <a:p>
              <a:r>
                <a:rPr lang="en-US" altLang="zh-CN" sz="2000"/>
                <a:t>①i&lt;=n</a:t>
              </a:r>
              <a:r>
                <a:rPr lang="zh-CN" altLang="zh-CN" sz="2000"/>
                <a:t>　</a:t>
              </a:r>
              <a:r>
                <a:rPr lang="en-US" altLang="zh-CN" sz="2000"/>
                <a:t>②x^2+y^2</a:t>
              </a:r>
              <a:r>
                <a:rPr lang="zh-CN" altLang="zh-CN" sz="2000"/>
                <a:t>　</a:t>
              </a:r>
              <a:r>
                <a:rPr lang="en-US" altLang="zh-CN" sz="2000"/>
                <a:t>③s=s+1</a:t>
              </a:r>
              <a:r>
                <a:rPr lang="zh-CN" altLang="zh-CN" sz="2000"/>
                <a:t>　</a:t>
              </a:r>
              <a:r>
                <a:rPr lang="en-US" altLang="zh-CN" sz="2000"/>
                <a:t>④str(4*s/n)</a:t>
              </a:r>
              <a:endParaRPr lang="zh-CN" altLang="zh-CN" sz="2000"/>
            </a:p>
          </p:txBody>
        </p:sp>
      </p:grpSp>
    </p:spTree>
    <p:extLst>
      <p:ext uri="{BB962C8B-B14F-4D97-AF65-F5344CB8AC3E}">
        <p14:creationId xmlns:p14="http://schemas.microsoft.com/office/powerpoint/2010/main" val="2292858774"/>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20</a:t>
            </a:fld>
            <a:r>
              <a:rPr lang="en-US" altLang="zh-CN"/>
              <a:t>-</a:t>
            </a:r>
            <a:endParaRPr lang="zh-CN" altLang="en-US" dirty="0"/>
          </a:p>
        </p:txBody>
      </p:sp>
      <p:sp>
        <p:nvSpPr>
          <p:cNvPr id="49" name="椭圆 48">
            <a:hlinkClick r:id="rId3"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4"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5"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6"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7" action="ppaction://hlinksldjump"/>
          </p:cNvPr>
          <p:cNvSpPr/>
          <p:nvPr/>
        </p:nvSpPr>
        <p:spPr>
          <a:xfrm>
            <a:off x="1684628"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54" name="椭圆 53">
            <a:hlinkClick r:id="rId8"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9"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10"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20" name="椭圆 19">
            <a:hlinkClick r:id="rId11"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4" name="矩形 3"/>
          <p:cNvSpPr>
            <a:spLocks noChangeAspect="1"/>
          </p:cNvSpPr>
          <p:nvPr/>
        </p:nvSpPr>
        <p:spPr>
          <a:xfrm>
            <a:off x="508000" y="1460486"/>
            <a:ext cx="8128000" cy="166346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5</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编写</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单词查找</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程序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实现如下功能</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在文本框</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中输入一段英文文本</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在文本框</a:t>
            </a:r>
            <a:r>
              <a:rPr lang="en-US" altLang="zh-CN" sz="2200">
                <a:solidFill>
                  <a:srgbClr val="000000"/>
                </a:solidFill>
                <a:latin typeface="Times New Roman" panose="02020603050405020304" pitchFamily="18" charset="0"/>
                <a:cs typeface="Times New Roman" panose="02020603050405020304" pitchFamily="18" charset="0"/>
              </a:rPr>
              <a:t>Text2</a:t>
            </a:r>
            <a:r>
              <a:rPr lang="zh-CN" altLang="zh-CN" sz="2200">
                <a:solidFill>
                  <a:srgbClr val="000000"/>
                </a:solidFill>
                <a:latin typeface="Times New Roman" panose="02020603050405020304" pitchFamily="18" charset="0"/>
                <a:cs typeface="Times New Roman" panose="02020603050405020304" pitchFamily="18" charset="0"/>
              </a:rPr>
              <a:t>中输入一个英文字母</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查找</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按钮</a:t>
            </a:r>
            <a:r>
              <a:rPr lang="en-US" altLang="zh-CN" sz="2200">
                <a:solidFill>
                  <a:srgbClr val="000000"/>
                </a:solidFill>
                <a:latin typeface="Times New Roman" panose="02020603050405020304" pitchFamily="18" charset="0"/>
                <a:cs typeface="Times New Roman" panose="02020603050405020304" pitchFamily="18" charset="0"/>
              </a:rPr>
              <a:t>Command1,</a:t>
            </a:r>
            <a:r>
              <a:rPr lang="zh-CN" altLang="zh-CN" sz="2200">
                <a:solidFill>
                  <a:srgbClr val="000000"/>
                </a:solidFill>
                <a:latin typeface="Times New Roman" panose="02020603050405020304" pitchFamily="18" charset="0"/>
                <a:cs typeface="Times New Roman" panose="02020603050405020304" pitchFamily="18" charset="0"/>
              </a:rPr>
              <a:t>在列表框</a:t>
            </a:r>
            <a:r>
              <a:rPr lang="en-US" altLang="zh-CN" sz="2200">
                <a:solidFill>
                  <a:srgbClr val="000000"/>
                </a:solidFill>
                <a:latin typeface="Times New Roman" panose="02020603050405020304" pitchFamily="18" charset="0"/>
                <a:cs typeface="Times New Roman" panose="02020603050405020304" pitchFamily="18" charset="0"/>
              </a:rPr>
              <a:t>List1</a:t>
            </a:r>
            <a:r>
              <a:rPr lang="zh-CN" altLang="zh-CN" sz="2200">
                <a:solidFill>
                  <a:srgbClr val="000000"/>
                </a:solidFill>
                <a:latin typeface="Times New Roman" panose="02020603050405020304" pitchFamily="18" charset="0"/>
                <a:cs typeface="Times New Roman" panose="02020603050405020304" pitchFamily="18" charset="0"/>
              </a:rPr>
              <a:t>依次显示</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中包含该英文字母的所有单词。程序运行界面如图所示。</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743109283"/>
              </p:ext>
            </p:extLst>
          </p:nvPr>
        </p:nvGraphicFramePr>
        <p:xfrm>
          <a:off x="508000" y="3179796"/>
          <a:ext cx="8128000" cy="2679156"/>
        </p:xfrm>
        <a:graphic>
          <a:graphicData uri="http://schemas.openxmlformats.org/presentationml/2006/ole">
            <mc:AlternateContent xmlns:mc="http://schemas.openxmlformats.org/markup-compatibility/2006">
              <mc:Choice xmlns:v="urn:schemas-microsoft-com:vml" Requires="v">
                <p:oleObj spid="_x0000_s8202" name="文档" r:id="rId12" imgW="3847376" imgH="1268125" progId="Word.Document.12">
                  <p:embed/>
                </p:oleObj>
              </mc:Choice>
              <mc:Fallback>
                <p:oleObj name="文档" r:id="rId12" imgW="3847376" imgH="1268125" progId="Word.Document.12">
                  <p:embed/>
                  <p:pic>
                    <p:nvPicPr>
                      <p:cNvPr id="0" name=""/>
                      <p:cNvPicPr/>
                      <p:nvPr/>
                    </p:nvPicPr>
                    <p:blipFill>
                      <a:blip r:embed="rId13"/>
                      <a:stretch>
                        <a:fillRect/>
                      </a:stretch>
                    </p:blipFill>
                    <p:spPr>
                      <a:xfrm>
                        <a:off x="508000" y="3179796"/>
                        <a:ext cx="8128000" cy="2679156"/>
                      </a:xfrm>
                      <a:prstGeom prst="rect">
                        <a:avLst/>
                      </a:prstGeom>
                    </p:spPr>
                  </p:pic>
                </p:oleObj>
              </mc:Fallback>
            </mc:AlternateContent>
          </a:graphicData>
        </a:graphic>
      </p:graphicFrame>
    </p:spTree>
    <p:extLst>
      <p:ext uri="{BB962C8B-B14F-4D97-AF65-F5344CB8AC3E}">
        <p14:creationId xmlns:p14="http://schemas.microsoft.com/office/powerpoint/2010/main" val="877249778"/>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21</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20" name="椭圆 1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 name="矩形 2"/>
          <p:cNvSpPr>
            <a:spLocks noChangeAspect="1"/>
          </p:cNvSpPr>
          <p:nvPr/>
        </p:nvSpPr>
        <p:spPr>
          <a:xfrm>
            <a:off x="508000" y="1904201"/>
            <a:ext cx="8128000" cy="330359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程序运行时</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要清空文本框</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可在</a:t>
            </a:r>
            <a:r>
              <a:rPr lang="en-US" altLang="zh-CN" sz="2200">
                <a:solidFill>
                  <a:srgbClr val="000000"/>
                </a:solidFill>
                <a:latin typeface="Times New Roman" panose="02020603050405020304" pitchFamily="18" charset="0"/>
                <a:cs typeface="Times New Roman" panose="02020603050405020304" pitchFamily="18" charset="0"/>
              </a:rPr>
              <a:t>Form_Load</a:t>
            </a:r>
            <a:r>
              <a:rPr lang="zh-CN" altLang="zh-CN" sz="2200">
                <a:solidFill>
                  <a:srgbClr val="000000"/>
                </a:solidFill>
                <a:latin typeface="Times New Roman" panose="02020603050405020304" pitchFamily="18" charset="0"/>
                <a:cs typeface="Times New Roman" panose="02020603050405020304" pitchFamily="18" charset="0"/>
              </a:rPr>
              <a:t>事件过程中添加代码</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单选</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填字母</a:t>
            </a:r>
            <a:r>
              <a:rPr lang="en-US" altLang="zh-CN" sz="2200">
                <a:solidFill>
                  <a:srgbClr val="000000"/>
                </a:solidFill>
                <a:latin typeface="Times New Roman" panose="02020603050405020304" pitchFamily="18" charset="0"/>
                <a:cs typeface="Times New Roman" panose="02020603050405020304" pitchFamily="18" charset="0"/>
              </a:rPr>
              <a:t>:A.Text1.Caption=″ ″/B.Text1.Text=″ ″/C.Text1.text=″</a:t>
            </a:r>
            <a:r>
              <a:rPr lang="zh-CN" altLang="zh-CN" sz="2200">
                <a:solidFill>
                  <a:srgbClr val="000000"/>
                </a:solidFill>
                <a:latin typeface="Times New Roman" panose="02020603050405020304" pitchFamily="18" charset="0"/>
                <a:cs typeface="Times New Roman" panose="02020603050405020304" pitchFamily="18" charset="0"/>
              </a:rPr>
              <a:t>清空</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(2)</a:t>
            </a:r>
            <a:r>
              <a:rPr lang="zh-CN" altLang="zh-CN" sz="2200">
                <a:solidFill>
                  <a:srgbClr val="000000"/>
                </a:solidFill>
                <a:latin typeface="Times New Roman" panose="02020603050405020304" pitchFamily="18" charset="0"/>
                <a:cs typeface="Times New Roman" panose="02020603050405020304" pitchFamily="18" charset="0"/>
              </a:rPr>
              <a:t>实现上述功能的</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cs typeface="Times New Roman" panose="02020603050405020304" pitchFamily="18" charset="0"/>
              </a:rPr>
              <a:t>程序如下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请在划线处填入合适的代码。</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s As String,tmp As String,c As String</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i As Integer,flag As Boolean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cnt As Integer '</a:t>
            </a:r>
            <a:r>
              <a:rPr lang="zh-CN" altLang="zh-CN" sz="2200">
                <a:solidFill>
                  <a:srgbClr val="000000"/>
                </a:solidFill>
                <a:latin typeface="Times New Roman" panose="02020603050405020304" pitchFamily="18" charset="0"/>
                <a:cs typeface="Times New Roman" panose="02020603050405020304" pitchFamily="18" charset="0"/>
              </a:rPr>
              <a:t>存储符合条件的单词数</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91180277"/>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22</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20" name="椭圆 1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 name="矩形 2"/>
          <p:cNvSpPr>
            <a:spLocks noChangeAspect="1"/>
          </p:cNvSpPr>
          <p:nvPr/>
        </p:nvSpPr>
        <p:spPr>
          <a:xfrm>
            <a:off x="508000" y="1373346"/>
            <a:ext cx="8128000" cy="533492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s=Text1.Text:flag=False:cnt=0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List1.Clear</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For i=1 To Len(s)</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c=Mid(s,i,1)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c&gt;=″a″ And c&lt;=″z″Or c&gt;=″A″ And c&lt;=″Z″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①</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c=text2.text Then flag=True:cnt=cnt+1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flag Then List1.AddItem tmp</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tmp=″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②</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Next i</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47704583"/>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23</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20" name="椭圆 1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4" name="矩形 3"/>
          <p:cNvSpPr>
            <a:spLocks noChangeAspect="1"/>
          </p:cNvSpPr>
          <p:nvPr/>
        </p:nvSpPr>
        <p:spPr>
          <a:xfrm>
            <a:off x="508000" y="1701069"/>
            <a:ext cx="8128000" cy="370986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If(c&gt;=″a″And c&lt;=″z″Or c&gt;=″A″And c&lt;=″Z″)and flag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List1.AddItem tmp</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cnt=0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List1.AddItem″</a:t>
            </a:r>
            <a:r>
              <a:rPr lang="zh-CN" altLang="zh-CN" sz="2200">
                <a:solidFill>
                  <a:srgbClr val="000000"/>
                </a:solidFill>
                <a:latin typeface="Times New Roman" panose="02020603050405020304" pitchFamily="18" charset="0"/>
                <a:cs typeface="Times New Roman" panose="02020603050405020304" pitchFamily="18" charset="0"/>
              </a:rPr>
              <a:t>找不到符合条件的单词</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(3)</a:t>
            </a:r>
            <a:r>
              <a:rPr lang="zh-CN" altLang="zh-CN" sz="2200">
                <a:solidFill>
                  <a:srgbClr val="000000"/>
                </a:solidFill>
                <a:latin typeface="Times New Roman" panose="02020603050405020304" pitchFamily="18" charset="0"/>
                <a:cs typeface="Times New Roman" panose="02020603050405020304" pitchFamily="18" charset="0"/>
              </a:rPr>
              <a:t>若删除代码中加框处语句</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按照题图输入的内容</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查找</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按钮后</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列表框</a:t>
            </a:r>
            <a:r>
              <a:rPr lang="en-US" altLang="zh-CN" sz="2200">
                <a:solidFill>
                  <a:srgbClr val="000000"/>
                </a:solidFill>
                <a:latin typeface="Times New Roman" panose="02020603050405020304" pitchFamily="18" charset="0"/>
                <a:cs typeface="Times New Roman" panose="02020603050405020304" pitchFamily="18" charset="0"/>
              </a:rPr>
              <a:t>List1</a:t>
            </a:r>
            <a:r>
              <a:rPr lang="zh-CN" altLang="zh-CN" sz="2200">
                <a:solidFill>
                  <a:srgbClr val="000000"/>
                </a:solidFill>
                <a:latin typeface="Times New Roman" panose="02020603050405020304" pitchFamily="18" charset="0"/>
                <a:cs typeface="Times New Roman" panose="02020603050405020304" pitchFamily="18" charset="0"/>
              </a:rPr>
              <a:t>中显示的单词个数是</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4" name="五边形 13"/>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15" name="五边形 14"/>
          <p:cNvSpPr/>
          <p:nvPr/>
        </p:nvSpPr>
        <p:spPr>
          <a:xfrm>
            <a:off x="6916239"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grpSp>
        <p:nvGrpSpPr>
          <p:cNvPr id="16" name="组合 15"/>
          <p:cNvGrpSpPr/>
          <p:nvPr/>
        </p:nvGrpSpPr>
        <p:grpSpPr>
          <a:xfrm>
            <a:off x="251520" y="2996953"/>
            <a:ext cx="8640960" cy="3672407"/>
            <a:chOff x="251520" y="793680"/>
            <a:chExt cx="8640960" cy="3672407"/>
          </a:xfrm>
        </p:grpSpPr>
        <p:grpSp>
          <p:nvGrpSpPr>
            <p:cNvPr id="17" name="组合 16"/>
            <p:cNvGrpSpPr/>
            <p:nvPr/>
          </p:nvGrpSpPr>
          <p:grpSpPr>
            <a:xfrm>
              <a:off x="251520" y="793680"/>
              <a:ext cx="8640960" cy="3672407"/>
              <a:chOff x="251520" y="-1251519"/>
              <a:chExt cx="8640960" cy="3672407"/>
            </a:xfrm>
          </p:grpSpPr>
          <p:sp>
            <p:nvSpPr>
              <p:cNvPr id="19" name="五边形 18"/>
              <p:cNvSpPr/>
              <p:nvPr/>
            </p:nvSpPr>
            <p:spPr>
              <a:xfrm>
                <a:off x="6916239" y="2132856"/>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21" name="燕尾形 20"/>
              <p:cNvSpPr/>
              <p:nvPr/>
            </p:nvSpPr>
            <p:spPr>
              <a:xfrm>
                <a:off x="7031380" y="2209856"/>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2" name="组合 21"/>
              <p:cNvGrpSpPr/>
              <p:nvPr/>
            </p:nvGrpSpPr>
            <p:grpSpPr>
              <a:xfrm>
                <a:off x="251520" y="-1251519"/>
                <a:ext cx="8640960" cy="3355400"/>
                <a:chOff x="251520" y="-1251519"/>
                <a:chExt cx="8640960" cy="3355400"/>
              </a:xfrm>
            </p:grpSpPr>
            <p:sp>
              <p:nvSpPr>
                <p:cNvPr id="23" name="矩形 22"/>
                <p:cNvSpPr/>
                <p:nvPr/>
              </p:nvSpPr>
              <p:spPr>
                <a:xfrm>
                  <a:off x="251520" y="-1251519"/>
                  <a:ext cx="8640960" cy="3355400"/>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28"/>
                <p:cNvSpPr txBox="1"/>
                <p:nvPr/>
              </p:nvSpPr>
              <p:spPr>
                <a:xfrm>
                  <a:off x="8371094" y="-1107504"/>
                  <a:ext cx="492443" cy="276999"/>
                </a:xfrm>
                <a:prstGeom prst="rect">
                  <a:avLst/>
                </a:prstGeom>
                <a:noFill/>
              </p:spPr>
              <p:txBody>
                <a:bodyPr wrap="none" rtlCol="0">
                  <a:spAutoFit/>
                </a:bodyPr>
                <a:lstStyle/>
                <a:p>
                  <a:r>
                    <a:rPr lang="zh-CN" altLang="en-US" sz="1200" dirty="0"/>
                    <a:t>关闭</a:t>
                  </a:r>
                </a:p>
              </p:txBody>
            </p:sp>
          </p:grpSp>
        </p:grpSp>
        <p:sp>
          <p:nvSpPr>
            <p:cNvPr id="18" name="矩形 17"/>
            <p:cNvSpPr>
              <a:spLocks noChangeAspect="1"/>
            </p:cNvSpPr>
            <p:nvPr/>
          </p:nvSpPr>
          <p:spPr>
            <a:xfrm>
              <a:off x="508000" y="1236134"/>
              <a:ext cx="8128000" cy="2803909"/>
            </a:xfrm>
            <a:prstGeom prst="rect">
              <a:avLst/>
            </a:prstGeom>
          </p:spPr>
          <p:txBody>
            <a:bodyPr>
              <a:spAutoFit/>
            </a:bodyPr>
            <a:lstStyle/>
            <a:p>
              <a:pPr>
                <a:lnSpc>
                  <a:spcPct val="150000"/>
                </a:lnSpc>
                <a:spcAft>
                  <a:spcPts val="0"/>
                </a:spcAft>
                <a:tabLst>
                  <a:tab pos="1029335" algn="l"/>
                  <a:tab pos="1850390" algn="l"/>
                  <a:tab pos="2538095" algn="l"/>
                  <a:tab pos="3221990" algn="l"/>
                </a:tabLst>
              </a:pPr>
              <a:r>
                <a:rPr lang="zh-CN" altLang="zh-CN" sz="2000"/>
                <a:t>算法思想是</a:t>
              </a:r>
              <a:r>
                <a:rPr lang="en-US" altLang="zh-CN" sz="2000"/>
                <a:t>:</a:t>
              </a:r>
              <a:r>
                <a:rPr lang="zh-CN" altLang="zh-CN" sz="2000"/>
                <a:t>每次循环先取出第</a:t>
              </a:r>
              <a:r>
                <a:rPr lang="en-US" altLang="zh-CN" sz="2000"/>
                <a:t>i</a:t>
              </a:r>
              <a:r>
                <a:rPr lang="zh-CN" altLang="zh-CN" sz="2000"/>
                <a:t>个字符</a:t>
              </a:r>
              <a:r>
                <a:rPr lang="en-US" altLang="zh-CN" sz="2000"/>
                <a:t>c,</a:t>
              </a:r>
              <a:r>
                <a:rPr lang="zh-CN" altLang="zh-CN" sz="2000"/>
                <a:t>如果</a:t>
              </a:r>
              <a:r>
                <a:rPr lang="en-US" altLang="zh-CN" sz="2000"/>
                <a:t>c</a:t>
              </a:r>
              <a:r>
                <a:rPr lang="zh-CN" altLang="zh-CN" sz="2000"/>
                <a:t>是字母</a:t>
              </a:r>
              <a:r>
                <a:rPr lang="en-US" altLang="zh-CN" sz="2000"/>
                <a:t>,</a:t>
              </a:r>
              <a:r>
                <a:rPr lang="zh-CN" altLang="zh-CN" sz="2000"/>
                <a:t>存入变量</a:t>
              </a:r>
              <a:r>
                <a:rPr lang="en-US" altLang="zh-CN" sz="2000"/>
                <a:t>tmp,</a:t>
              </a:r>
              <a:r>
                <a:rPr lang="zh-CN" altLang="zh-CN" sz="2000"/>
                <a:t>如果该字母是要查找的字母</a:t>
              </a:r>
              <a:r>
                <a:rPr lang="en-US" altLang="zh-CN" sz="2000"/>
                <a:t>,flag</a:t>
              </a:r>
              <a:r>
                <a:rPr lang="zh-CN" altLang="zh-CN" sz="2000"/>
                <a:t>赋值为</a:t>
              </a:r>
              <a:r>
                <a:rPr lang="en-US" altLang="zh-CN" sz="2000"/>
                <a:t>true,cnt</a:t>
              </a:r>
              <a:r>
                <a:rPr lang="zh-CN" altLang="zh-CN" sz="2000"/>
                <a:t>值加</a:t>
              </a:r>
              <a:r>
                <a:rPr lang="en-US" altLang="zh-CN" sz="2000"/>
                <a:t>1,</a:t>
              </a:r>
              <a:r>
                <a:rPr lang="zh-CN" altLang="zh-CN" sz="2000"/>
                <a:t>表示当前单词中含有查找的字母。如果</a:t>
              </a:r>
              <a:r>
                <a:rPr lang="en-US" altLang="zh-CN" sz="2000"/>
                <a:t>c</a:t>
              </a:r>
              <a:r>
                <a:rPr lang="zh-CN" altLang="zh-CN" sz="2000"/>
                <a:t>不是字母</a:t>
              </a:r>
              <a:r>
                <a:rPr lang="en-US" altLang="zh-CN" sz="2000"/>
                <a:t>,</a:t>
              </a:r>
              <a:r>
                <a:rPr lang="zh-CN" altLang="zh-CN" sz="2000"/>
                <a:t>表示单词结束</a:t>
              </a:r>
              <a:r>
                <a:rPr lang="en-US" altLang="zh-CN" sz="2000"/>
                <a:t>,</a:t>
              </a:r>
              <a:r>
                <a:rPr lang="zh-CN" altLang="zh-CN" sz="2000"/>
                <a:t>如果</a:t>
              </a:r>
              <a:r>
                <a:rPr lang="en-US" altLang="zh-CN" sz="2000"/>
                <a:t>flag=true,</a:t>
              </a:r>
              <a:r>
                <a:rPr lang="zh-CN" altLang="zh-CN" sz="2000"/>
                <a:t>显示该单词</a:t>
              </a:r>
              <a:r>
                <a:rPr lang="en-US" altLang="zh-CN" sz="2000"/>
                <a:t>,</a:t>
              </a:r>
              <a:r>
                <a:rPr lang="zh-CN" altLang="zh-CN" sz="2000"/>
                <a:t>然后</a:t>
              </a:r>
              <a:r>
                <a:rPr lang="en-US" altLang="zh-CN" sz="2000"/>
                <a:t>tmp</a:t>
              </a:r>
              <a:r>
                <a:rPr lang="zh-CN" altLang="zh-CN" sz="2000"/>
                <a:t>清空</a:t>
              </a:r>
              <a:r>
                <a:rPr lang="en-US" altLang="zh-CN" sz="2000"/>
                <a:t>,</a:t>
              </a:r>
              <a:r>
                <a:rPr lang="zh-CN" altLang="zh-CN" sz="2000"/>
                <a:t>为存储下一个单词准备</a:t>
              </a:r>
              <a:r>
                <a:rPr lang="en-US" altLang="zh-CN" sz="2000"/>
                <a:t>,</a:t>
              </a:r>
              <a:r>
                <a:rPr lang="zh-CN" altLang="zh-CN" sz="2000"/>
                <a:t>因为下一个单词未必含有要查找的字母</a:t>
              </a:r>
              <a:r>
                <a:rPr lang="en-US" altLang="zh-CN" sz="2000"/>
                <a:t>,</a:t>
              </a:r>
              <a:r>
                <a:rPr lang="zh-CN" altLang="zh-CN" sz="2000"/>
                <a:t>所以</a:t>
              </a:r>
              <a:r>
                <a:rPr lang="en-US" altLang="zh-CN" sz="2000"/>
                <a:t>flag</a:t>
              </a:r>
              <a:r>
                <a:rPr lang="zh-CN" altLang="zh-CN" sz="2000"/>
                <a:t>重置为</a:t>
              </a:r>
              <a:r>
                <a:rPr lang="en-US" altLang="zh-CN" sz="2000"/>
                <a:t>false</a:t>
              </a:r>
              <a:r>
                <a:rPr lang="zh-CN" altLang="zh-CN" sz="2000"/>
                <a:t>。若输入文本是以字母结束的</a:t>
              </a:r>
              <a:r>
                <a:rPr lang="en-US" altLang="zh-CN" sz="2000"/>
                <a:t>,</a:t>
              </a:r>
              <a:r>
                <a:rPr lang="zh-CN" altLang="zh-CN" sz="2000"/>
                <a:t>则最后一个含有查找字母的单词没有输出</a:t>
              </a:r>
              <a:r>
                <a:rPr lang="en-US" altLang="zh-CN" sz="2000"/>
                <a:t>,</a:t>
              </a:r>
              <a:r>
                <a:rPr lang="zh-CN" altLang="zh-CN" sz="2000"/>
                <a:t>需要加框处语句判断输出。</a:t>
              </a:r>
              <a:endParaRPr lang="zh-CN" altLang="zh-CN" sz="20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nvGrpSpPr>
          <p:cNvPr id="25" name="组合 24"/>
          <p:cNvGrpSpPr/>
          <p:nvPr/>
        </p:nvGrpSpPr>
        <p:grpSpPr>
          <a:xfrm>
            <a:off x="251520" y="5517232"/>
            <a:ext cx="8640960" cy="1152128"/>
            <a:chOff x="251520" y="4752548"/>
            <a:chExt cx="8640960" cy="1152128"/>
          </a:xfrm>
        </p:grpSpPr>
        <p:grpSp>
          <p:nvGrpSpPr>
            <p:cNvPr id="26" name="组合 25"/>
            <p:cNvGrpSpPr/>
            <p:nvPr/>
          </p:nvGrpSpPr>
          <p:grpSpPr>
            <a:xfrm>
              <a:off x="251520" y="4752548"/>
              <a:ext cx="8640960" cy="1152128"/>
              <a:chOff x="251520" y="3755469"/>
              <a:chExt cx="8640960" cy="1152128"/>
            </a:xfrm>
          </p:grpSpPr>
          <p:sp>
            <p:nvSpPr>
              <p:cNvPr id="28" name="五边形 27"/>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29" name="五边形 28"/>
              <p:cNvSpPr/>
              <p:nvPr/>
            </p:nvSpPr>
            <p:spPr>
              <a:xfrm>
                <a:off x="6916239" y="4619565"/>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30" name="燕尾形 29"/>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矩形 30"/>
              <p:cNvSpPr/>
              <p:nvPr/>
            </p:nvSpPr>
            <p:spPr>
              <a:xfrm>
                <a:off x="251520" y="3755469"/>
                <a:ext cx="8640960" cy="836693"/>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TextBox 48"/>
              <p:cNvSpPr txBox="1"/>
              <p:nvPr/>
            </p:nvSpPr>
            <p:spPr>
              <a:xfrm>
                <a:off x="8388424" y="3872081"/>
                <a:ext cx="492443" cy="276999"/>
              </a:xfrm>
              <a:prstGeom prst="rect">
                <a:avLst/>
              </a:prstGeom>
              <a:noFill/>
            </p:spPr>
            <p:txBody>
              <a:bodyPr wrap="none" rtlCol="0">
                <a:spAutoFit/>
              </a:bodyPr>
              <a:lstStyle/>
              <a:p>
                <a:r>
                  <a:rPr lang="zh-CN" altLang="en-US" sz="1200" dirty="0"/>
                  <a:t>关闭</a:t>
                </a:r>
              </a:p>
            </p:txBody>
          </p:sp>
        </p:grpSp>
        <p:sp>
          <p:nvSpPr>
            <p:cNvPr id="27" name="矩形 26"/>
            <p:cNvSpPr>
              <a:spLocks noChangeAspect="1"/>
            </p:cNvSpPr>
            <p:nvPr/>
          </p:nvSpPr>
          <p:spPr>
            <a:xfrm>
              <a:off x="539552" y="5009401"/>
              <a:ext cx="8064896" cy="400110"/>
            </a:xfrm>
            <a:prstGeom prst="rect">
              <a:avLst/>
            </a:prstGeom>
          </p:spPr>
          <p:txBody>
            <a:bodyPr wrap="square">
              <a:spAutoFit/>
            </a:bodyPr>
            <a:lstStyle/>
            <a:p>
              <a:r>
                <a:rPr lang="en-US" altLang="zh-CN" sz="2000"/>
                <a:t>(1)B</a:t>
              </a:r>
              <a:r>
                <a:rPr lang="zh-CN" altLang="zh-CN" sz="2000"/>
                <a:t>　</a:t>
              </a:r>
              <a:r>
                <a:rPr lang="en-US" altLang="zh-CN" sz="2000"/>
                <a:t>(2)①tmp=tmp+c</a:t>
              </a:r>
              <a:r>
                <a:rPr lang="zh-CN" altLang="zh-CN" sz="2000"/>
                <a:t>　</a:t>
              </a:r>
              <a:r>
                <a:rPr lang="en-US" altLang="zh-CN" sz="2000"/>
                <a:t>②flag=false</a:t>
              </a:r>
              <a:r>
                <a:rPr lang="zh-CN" altLang="zh-CN" sz="2000"/>
                <a:t>　</a:t>
              </a:r>
              <a:r>
                <a:rPr lang="en-US" altLang="zh-CN" sz="2000"/>
                <a:t>(3)4</a:t>
              </a:r>
              <a:endParaRPr lang="zh-CN" altLang="zh-CN" sz="2000"/>
            </a:p>
          </p:txBody>
        </p:sp>
      </p:grpSp>
    </p:spTree>
    <p:extLst>
      <p:ext uri="{BB962C8B-B14F-4D97-AF65-F5344CB8AC3E}">
        <p14:creationId xmlns:p14="http://schemas.microsoft.com/office/powerpoint/2010/main" val="41682591"/>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25"/>
                    </p:tgtEl>
                  </p:cond>
                </p:stCondLst>
                <p:endSync evt="end" delay="0">
                  <p:rtn val="all"/>
                </p:endSync>
                <p:childTnLst>
                  <p:par>
                    <p:cTn id="21" fill="hold">
                      <p:stCondLst>
                        <p:cond delay="0"/>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24</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30" name="椭圆 2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1" name="矩形 30"/>
          <p:cNvSpPr>
            <a:spLocks noChangeAspect="1"/>
          </p:cNvSpPr>
          <p:nvPr/>
        </p:nvSpPr>
        <p:spPr>
          <a:xfrm>
            <a:off x="508000" y="1402018"/>
            <a:ext cx="8128000" cy="5324535"/>
          </a:xfrm>
          <a:prstGeom prst="rect">
            <a:avLst/>
          </a:prstGeom>
        </p:spPr>
        <p:txBody>
          <a:bodyPr>
            <a:spAutoFit/>
          </a:bodyPr>
          <a:lstStyle/>
          <a:p>
            <a:pPr>
              <a:spcAft>
                <a:spcPts val="0"/>
              </a:spcAft>
              <a:tabLst>
                <a:tab pos="1029335" algn="l"/>
                <a:tab pos="1850390" algn="l"/>
                <a:tab pos="2538095" algn="l"/>
                <a:tab pos="3221990" algn="l"/>
              </a:tabLst>
            </a:pPr>
            <a:r>
              <a:rPr lang="en-US" altLang="zh-CN" sz="2000" b="1">
                <a:solidFill>
                  <a:srgbClr val="000000"/>
                </a:solidFill>
                <a:latin typeface="Times New Roman" panose="02020603050405020304" pitchFamily="18" charset="0"/>
                <a:cs typeface="Times New Roman" panose="02020603050405020304" pitchFamily="18" charset="0"/>
              </a:rPr>
              <a:t>6</a:t>
            </a:r>
            <a:r>
              <a:rPr lang="en-US" altLang="zh-CN" sz="2000">
                <a:solidFill>
                  <a:srgbClr val="000000"/>
                </a:solidFill>
                <a:latin typeface="Times New Roman" panose="02020603050405020304" pitchFamily="18" charset="0"/>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现有</a:t>
            </a:r>
            <a:r>
              <a:rPr lang="en-US" altLang="zh-CN" sz="2000">
                <a:solidFill>
                  <a:srgbClr val="000000"/>
                </a:solidFill>
                <a:latin typeface="Times New Roman" panose="02020603050405020304" pitchFamily="18" charset="0"/>
                <a:cs typeface="Times New Roman" panose="02020603050405020304" pitchFamily="18" charset="0"/>
              </a:rPr>
              <a:t>1</a:t>
            </a:r>
            <a:r>
              <a:rPr lang="zh-CN" altLang="zh-CN" sz="2000">
                <a:solidFill>
                  <a:srgbClr val="000000"/>
                </a:solidFill>
                <a:latin typeface="Times New Roman" panose="02020603050405020304" pitchFamily="18" charset="0"/>
                <a:cs typeface="Times New Roman" panose="02020603050405020304" pitchFamily="18" charset="0"/>
              </a:rPr>
              <a:t>元币</a:t>
            </a:r>
            <a:r>
              <a:rPr lang="en-US" altLang="zh-CN" sz="2000">
                <a:solidFill>
                  <a:srgbClr val="000000"/>
                </a:solidFill>
                <a:latin typeface="Times New Roman" panose="02020603050405020304" pitchFamily="18" charset="0"/>
                <a:cs typeface="Times New Roman" panose="02020603050405020304" pitchFamily="18" charset="0"/>
              </a:rPr>
              <a:t>3</a:t>
            </a:r>
            <a:r>
              <a:rPr lang="zh-CN" altLang="zh-CN" sz="2000">
                <a:solidFill>
                  <a:srgbClr val="000000"/>
                </a:solidFill>
                <a:latin typeface="Times New Roman" panose="02020603050405020304" pitchFamily="18" charset="0"/>
                <a:cs typeface="Times New Roman" panose="02020603050405020304" pitchFamily="18" charset="0"/>
              </a:rPr>
              <a:t>张、</a:t>
            </a:r>
            <a:r>
              <a:rPr lang="en-US" altLang="zh-CN" sz="2000">
                <a:solidFill>
                  <a:srgbClr val="000000"/>
                </a:solidFill>
                <a:latin typeface="Times New Roman" panose="02020603050405020304" pitchFamily="18" charset="0"/>
                <a:cs typeface="Times New Roman" panose="02020603050405020304" pitchFamily="18" charset="0"/>
              </a:rPr>
              <a:t>5</a:t>
            </a:r>
            <a:r>
              <a:rPr lang="zh-CN" altLang="zh-CN" sz="2000">
                <a:solidFill>
                  <a:srgbClr val="000000"/>
                </a:solidFill>
                <a:latin typeface="Times New Roman" panose="02020603050405020304" pitchFamily="18" charset="0"/>
                <a:cs typeface="Times New Roman" panose="02020603050405020304" pitchFamily="18" charset="0"/>
              </a:rPr>
              <a:t>元币</a:t>
            </a:r>
            <a:r>
              <a:rPr lang="en-US" altLang="zh-CN" sz="2000">
                <a:solidFill>
                  <a:srgbClr val="000000"/>
                </a:solidFill>
                <a:latin typeface="Times New Roman" panose="02020603050405020304" pitchFamily="18" charset="0"/>
                <a:cs typeface="Times New Roman" panose="02020603050405020304" pitchFamily="18" charset="0"/>
              </a:rPr>
              <a:t>4</a:t>
            </a:r>
            <a:r>
              <a:rPr lang="zh-CN" altLang="zh-CN" sz="2000">
                <a:solidFill>
                  <a:srgbClr val="000000"/>
                </a:solidFill>
                <a:latin typeface="Times New Roman" panose="02020603050405020304" pitchFamily="18" charset="0"/>
                <a:cs typeface="Times New Roman" panose="02020603050405020304" pitchFamily="18" charset="0"/>
              </a:rPr>
              <a:t>张</a:t>
            </a:r>
            <a:r>
              <a:rPr lang="en-US" altLang="zh-CN" sz="2000">
                <a:solidFill>
                  <a:srgbClr val="000000"/>
                </a:solidFill>
                <a:latin typeface="Times New Roman" panose="02020603050405020304" pitchFamily="18" charset="0"/>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用这些钱币中的一张或若干张可以得到多少种不同的资金数量。现用</a:t>
            </a:r>
            <a:r>
              <a:rPr lang="en-US" altLang="zh-CN" sz="2000">
                <a:solidFill>
                  <a:srgbClr val="000000"/>
                </a:solidFill>
                <a:latin typeface="Times New Roman" panose="02020603050405020304" pitchFamily="18" charset="0"/>
                <a:cs typeface="Times New Roman" panose="02020603050405020304" pitchFamily="18" charset="0"/>
              </a:rPr>
              <a:t>VB</a:t>
            </a:r>
            <a:r>
              <a:rPr lang="zh-CN" altLang="zh-CN" sz="2000">
                <a:solidFill>
                  <a:srgbClr val="000000"/>
                </a:solidFill>
                <a:latin typeface="Times New Roman" panose="02020603050405020304" pitchFamily="18" charset="0"/>
                <a:cs typeface="Times New Roman" panose="02020603050405020304" pitchFamily="18" charset="0"/>
              </a:rPr>
              <a:t>程序求解</a:t>
            </a:r>
            <a:r>
              <a:rPr lang="en-US" altLang="zh-CN" sz="2000">
                <a:solidFill>
                  <a:srgbClr val="000000"/>
                </a:solidFill>
                <a:latin typeface="Times New Roman" panose="02020603050405020304" pitchFamily="18" charset="0"/>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程序如下</a:t>
            </a:r>
            <a:r>
              <a:rPr lang="en-US" altLang="zh-CN" sz="2000">
                <a:solidFill>
                  <a:srgbClr val="000000"/>
                </a:solidFill>
                <a:latin typeface="Times New Roman" panose="02020603050405020304" pitchFamily="18" charset="0"/>
                <a:cs typeface="Times New Roman" panose="02020603050405020304" pitchFamily="18" charset="0"/>
              </a:rPr>
              <a:t>:</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000">
                <a:solidFill>
                  <a:srgbClr val="000000"/>
                </a:solidFill>
                <a:latin typeface="Times New Roman" panose="02020603050405020304" pitchFamily="18" charset="0"/>
                <a:cs typeface="Times New Roman" panose="02020603050405020304" pitchFamily="18" charset="0"/>
              </a:rPr>
              <a:t>Private Sub Command1_click()</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000">
                <a:solidFill>
                  <a:srgbClr val="000000"/>
                </a:solidFill>
                <a:latin typeface="Times New Roman" panose="02020603050405020304" pitchFamily="18" charset="0"/>
                <a:cs typeface="Times New Roman" panose="02020603050405020304" pitchFamily="18" charset="0"/>
              </a:rPr>
              <a:t>List1.Clear</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000">
                <a:solidFill>
                  <a:srgbClr val="000000"/>
                </a:solidFill>
                <a:latin typeface="Times New Roman" panose="02020603050405020304" pitchFamily="18" charset="0"/>
                <a:cs typeface="Times New Roman" panose="02020603050405020304" pitchFamily="18" charset="0"/>
              </a:rPr>
              <a:t>s=0</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000">
                <a:solidFill>
                  <a:srgbClr val="000000"/>
                </a:solidFill>
                <a:latin typeface="Times New Roman" panose="02020603050405020304" pitchFamily="18" charset="0"/>
                <a:cs typeface="Times New Roman" panose="02020603050405020304" pitchFamily="18" charset="0"/>
              </a:rPr>
              <a:t>For one=0 To 3</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For five=0 To 4</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m=</a:t>
            </a:r>
            <a:r>
              <a:rPr lang="zh-CN" altLang="zh-CN" sz="20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000" u="sng">
                <a:solidFill>
                  <a:srgbClr val="FF0000"/>
                </a:solidFill>
                <a:uFill>
                  <a:solidFill>
                    <a:srgbClr val="000000"/>
                  </a:solidFill>
                </a:uFill>
                <a:latin typeface="NEU-BZ-S92"/>
                <a:cs typeface="宋体" panose="02010600030101010101" pitchFamily="2" charset="-122"/>
              </a:rPr>
              <a:t>①</a:t>
            </a:r>
            <a:r>
              <a:rPr lang="zh-CN" altLang="zh-CN" sz="20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000" u="sng">
                <a:solidFill>
                  <a:srgbClr val="FF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If m&gt; 0 Then</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s=</a:t>
            </a:r>
            <a:r>
              <a:rPr lang="zh-CN" altLang="zh-CN" sz="20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000" u="sng">
                <a:solidFill>
                  <a:srgbClr val="FF0000"/>
                </a:solidFill>
                <a:uFill>
                  <a:solidFill>
                    <a:srgbClr val="000000"/>
                  </a:solidFill>
                </a:uFill>
                <a:latin typeface="NEU-BZ-S92"/>
                <a:cs typeface="宋体" panose="02010600030101010101" pitchFamily="2" charset="-122"/>
              </a:rPr>
              <a:t>②</a:t>
            </a:r>
            <a:r>
              <a:rPr lang="zh-CN" altLang="zh-CN" sz="20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000" u="sng">
                <a:solidFill>
                  <a:srgbClr val="FF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List1.AddItem </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一元币取</a:t>
            </a:r>
            <a:r>
              <a:rPr lang="en-US" altLang="zh-CN" sz="2000">
                <a:solidFill>
                  <a:srgbClr val="000000"/>
                </a:solidFill>
                <a:latin typeface="Times New Roman" panose="02020603050405020304" pitchFamily="18" charset="0"/>
                <a:cs typeface="Times New Roman" panose="02020603050405020304" pitchFamily="18" charset="0"/>
              </a:rPr>
              <a:t>″+Str(one)+</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张</a:t>
            </a:r>
            <a:r>
              <a:rPr lang="en-US" altLang="zh-CN" sz="2000">
                <a:solidFill>
                  <a:srgbClr val="000000"/>
                </a:solidFill>
                <a:latin typeface="Times New Roman" panose="02020603050405020304" pitchFamily="18" charset="0"/>
                <a:cs typeface="Times New Roman" panose="02020603050405020304" pitchFamily="18" charset="0"/>
              </a:rPr>
              <a:t>,5</a:t>
            </a:r>
            <a:r>
              <a:rPr lang="zh-CN" altLang="zh-CN" sz="2000">
                <a:solidFill>
                  <a:srgbClr val="000000"/>
                </a:solidFill>
                <a:latin typeface="Times New Roman" panose="02020603050405020304" pitchFamily="18" charset="0"/>
                <a:cs typeface="Times New Roman" panose="02020603050405020304" pitchFamily="18" charset="0"/>
              </a:rPr>
              <a:t>元币取</a:t>
            </a:r>
            <a:r>
              <a:rPr lang="en-US" altLang="zh-CN" sz="2000">
                <a:solidFill>
                  <a:srgbClr val="000000"/>
                </a:solidFill>
                <a:latin typeface="Times New Roman" panose="02020603050405020304" pitchFamily="18" charset="0"/>
                <a:cs typeface="Times New Roman" panose="02020603050405020304" pitchFamily="18" charset="0"/>
              </a:rPr>
              <a:t>″+Str(five)+</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张资金量为</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+Str(m)+</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元。</a:t>
            </a:r>
            <a:r>
              <a:rPr lang="en-US" altLang="zh-CN" sz="2000">
                <a:solidFill>
                  <a:srgbClr val="000000"/>
                </a:solidFill>
                <a:latin typeface="Times New Roman" panose="02020603050405020304" pitchFamily="18" charset="0"/>
                <a:cs typeface="Times New Roman" panose="02020603050405020304" pitchFamily="18" charset="0"/>
              </a:rPr>
              <a:t>″</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End If</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Next</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000">
                <a:solidFill>
                  <a:srgbClr val="000000"/>
                </a:solidFill>
                <a:latin typeface="Times New Roman" panose="02020603050405020304" pitchFamily="18" charset="0"/>
                <a:cs typeface="Times New Roman" panose="02020603050405020304" pitchFamily="18" charset="0"/>
              </a:rPr>
              <a:t>Next</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000">
                <a:solidFill>
                  <a:srgbClr val="000000"/>
                </a:solidFill>
                <a:latin typeface="Times New Roman" panose="02020603050405020304" pitchFamily="18" charset="0"/>
                <a:cs typeface="Times New Roman" panose="02020603050405020304" pitchFamily="18" charset="0"/>
              </a:rPr>
              <a:t>List1.AddItem </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共有</a:t>
            </a:r>
            <a:r>
              <a:rPr lang="en-US" altLang="zh-CN" sz="2000">
                <a:solidFill>
                  <a:srgbClr val="000000"/>
                </a:solidFill>
                <a:latin typeface="Times New Roman" panose="02020603050405020304" pitchFamily="18" charset="0"/>
                <a:cs typeface="Times New Roman" panose="02020603050405020304" pitchFamily="18" charset="0"/>
              </a:rPr>
              <a:t>″ + Str(s) + </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种组合</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000">
                <a:solidFill>
                  <a:srgbClr val="000000"/>
                </a:solidFill>
                <a:latin typeface="Times New Roman" panose="02020603050405020304" pitchFamily="18" charset="0"/>
                <a:cs typeface="Times New Roman" panose="02020603050405020304" pitchFamily="18" charset="0"/>
              </a:rPr>
              <a:t>End Sub</a:t>
            </a:r>
            <a:endParaRPr lang="zh-CN" altLang="zh-CN" sz="20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15730031"/>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25</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30" name="椭圆 29">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12" name="矩形 11"/>
          <p:cNvSpPr>
            <a:spLocks noChangeAspect="1"/>
          </p:cNvSpPr>
          <p:nvPr/>
        </p:nvSpPr>
        <p:spPr>
          <a:xfrm>
            <a:off x="508000" y="1556792"/>
            <a:ext cx="8128000" cy="249106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本程序主要采用的算法是</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枚举算法</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解析算法</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(2)</a:t>
            </a:r>
            <a:r>
              <a:rPr lang="zh-CN" altLang="zh-CN" sz="2200">
                <a:solidFill>
                  <a:srgbClr val="000000"/>
                </a:solidFill>
                <a:latin typeface="Times New Roman" panose="02020603050405020304" pitchFamily="18" charset="0"/>
                <a:cs typeface="Times New Roman" panose="02020603050405020304" pitchFamily="18" charset="0"/>
              </a:rPr>
              <a:t>在程序中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和</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填入适当的语句或表达式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把程序补充完整。</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①</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程序中</a:t>
            </a:r>
            <a:r>
              <a:rPr lang="zh-CN" altLang="zh-CN" sz="2200">
                <a:solidFill>
                  <a:srgbClr val="000000"/>
                </a:solidFill>
                <a:latin typeface="NEU-BZ-S92"/>
                <a:cs typeface="宋体" panose="02010600030101010101" pitchFamily="2" charset="-122"/>
              </a:rPr>
              <a:t>②</a:t>
            </a:r>
            <a:r>
              <a:rPr lang="zh-CN" altLang="zh-CN" sz="2200">
                <a:solidFill>
                  <a:srgbClr val="000000"/>
                </a:solidFill>
                <a:latin typeface="Times New Roman" panose="02020603050405020304" pitchFamily="18" charset="0"/>
                <a:cs typeface="Times New Roman" panose="02020603050405020304" pitchFamily="18" charset="0"/>
              </a:rPr>
              <a:t>划线处应填入</a:t>
            </a:r>
            <a:r>
              <a:rPr lang="zh-CN" altLang="zh-CN" sz="2200"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3" name="五边形 12"/>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14" name="五边形 13"/>
          <p:cNvSpPr/>
          <p:nvPr/>
        </p:nvSpPr>
        <p:spPr>
          <a:xfrm>
            <a:off x="6916239"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grpSp>
        <p:nvGrpSpPr>
          <p:cNvPr id="15" name="组合 14"/>
          <p:cNvGrpSpPr/>
          <p:nvPr/>
        </p:nvGrpSpPr>
        <p:grpSpPr>
          <a:xfrm>
            <a:off x="251520" y="3472033"/>
            <a:ext cx="8640960" cy="3197327"/>
            <a:chOff x="251520" y="1268760"/>
            <a:chExt cx="8640960" cy="3197327"/>
          </a:xfrm>
        </p:grpSpPr>
        <p:grpSp>
          <p:nvGrpSpPr>
            <p:cNvPr id="16" name="组合 15"/>
            <p:cNvGrpSpPr/>
            <p:nvPr/>
          </p:nvGrpSpPr>
          <p:grpSpPr>
            <a:xfrm>
              <a:off x="251520" y="1268760"/>
              <a:ext cx="8640960" cy="3197327"/>
              <a:chOff x="251520" y="-776439"/>
              <a:chExt cx="8640960" cy="3197327"/>
            </a:xfrm>
          </p:grpSpPr>
          <p:sp>
            <p:nvSpPr>
              <p:cNvPr id="18" name="五边形 17"/>
              <p:cNvSpPr/>
              <p:nvPr/>
            </p:nvSpPr>
            <p:spPr>
              <a:xfrm>
                <a:off x="6916239" y="2132856"/>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19" name="燕尾形 18"/>
              <p:cNvSpPr/>
              <p:nvPr/>
            </p:nvSpPr>
            <p:spPr>
              <a:xfrm>
                <a:off x="7031380" y="2209856"/>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0" name="组合 19"/>
              <p:cNvGrpSpPr/>
              <p:nvPr/>
            </p:nvGrpSpPr>
            <p:grpSpPr>
              <a:xfrm>
                <a:off x="251520" y="-776439"/>
                <a:ext cx="8640960" cy="2880320"/>
                <a:chOff x="251520" y="-776439"/>
                <a:chExt cx="8640960" cy="2880320"/>
              </a:xfrm>
            </p:grpSpPr>
            <p:sp>
              <p:nvSpPr>
                <p:cNvPr id="21" name="矩形 20"/>
                <p:cNvSpPr/>
                <p:nvPr/>
              </p:nvSpPr>
              <p:spPr>
                <a:xfrm>
                  <a:off x="251520" y="-776439"/>
                  <a:ext cx="8640960" cy="2880320"/>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extBox 28"/>
                <p:cNvSpPr txBox="1"/>
                <p:nvPr/>
              </p:nvSpPr>
              <p:spPr>
                <a:xfrm>
                  <a:off x="8371094" y="-765422"/>
                  <a:ext cx="492443" cy="276999"/>
                </a:xfrm>
                <a:prstGeom prst="rect">
                  <a:avLst/>
                </a:prstGeom>
                <a:noFill/>
              </p:spPr>
              <p:txBody>
                <a:bodyPr wrap="none" rtlCol="0">
                  <a:spAutoFit/>
                </a:bodyPr>
                <a:lstStyle/>
                <a:p>
                  <a:r>
                    <a:rPr lang="zh-CN" altLang="en-US" sz="1200" dirty="0"/>
                    <a:t>关闭</a:t>
                  </a:r>
                </a:p>
              </p:txBody>
            </p:sp>
          </p:grpSp>
        </p:grpSp>
        <p:sp>
          <p:nvSpPr>
            <p:cNvPr id="17" name="矩形 16"/>
            <p:cNvSpPr>
              <a:spLocks noChangeAspect="1"/>
            </p:cNvSpPr>
            <p:nvPr/>
          </p:nvSpPr>
          <p:spPr>
            <a:xfrm>
              <a:off x="508000" y="1578826"/>
              <a:ext cx="8128000" cy="1866858"/>
            </a:xfrm>
            <a:prstGeom prst="rect">
              <a:avLst/>
            </a:prstGeom>
          </p:spPr>
          <p:txBody>
            <a:bodyPr>
              <a:spAutoFit/>
            </a:bodyPr>
            <a:lstStyle/>
            <a:p>
              <a:pPr>
                <a:lnSpc>
                  <a:spcPct val="150000"/>
                </a:lnSpc>
                <a:spcAft>
                  <a:spcPts val="0"/>
                </a:spcAft>
                <a:tabLst>
                  <a:tab pos="1029335" algn="l"/>
                  <a:tab pos="1850390" algn="l"/>
                  <a:tab pos="2538095" algn="l"/>
                  <a:tab pos="3221990" algn="l"/>
                </a:tabLst>
              </a:pPr>
              <a:r>
                <a:rPr lang="zh-CN" altLang="zh-CN" sz="2000"/>
                <a:t> 从语句</a:t>
              </a:r>
              <a:r>
                <a:rPr lang="en-US" altLang="zh-CN" sz="2000"/>
                <a:t>List1.AddItem ″</a:t>
              </a:r>
              <a:r>
                <a:rPr lang="zh-CN" altLang="zh-CN" sz="2000"/>
                <a:t>一元币取</a:t>
              </a:r>
              <a:r>
                <a:rPr lang="en-US" altLang="zh-CN" sz="2000"/>
                <a:t>″ + Str(one) + ″</a:t>
              </a:r>
              <a:r>
                <a:rPr lang="zh-CN" altLang="zh-CN" sz="2000"/>
                <a:t>张</a:t>
              </a:r>
              <a:r>
                <a:rPr lang="en-US" altLang="zh-CN" sz="2000"/>
                <a:t>,5</a:t>
              </a:r>
              <a:r>
                <a:rPr lang="zh-CN" altLang="zh-CN" sz="2000"/>
                <a:t>元币取</a:t>
              </a:r>
              <a:r>
                <a:rPr lang="en-US" altLang="zh-CN" sz="2000"/>
                <a:t>″ + Str(five) + ″</a:t>
              </a:r>
              <a:r>
                <a:rPr lang="zh-CN" altLang="zh-CN" sz="2000"/>
                <a:t>张资金量为</a:t>
              </a:r>
              <a:r>
                <a:rPr lang="en-US" altLang="zh-CN" sz="2000"/>
                <a:t>:″ + Str(m) + ″</a:t>
              </a:r>
              <a:r>
                <a:rPr lang="zh-CN" altLang="zh-CN" sz="2000"/>
                <a:t>元。</a:t>
              </a:r>
              <a:r>
                <a:rPr lang="en-US" altLang="zh-CN" sz="2000"/>
                <a:t>″</a:t>
              </a:r>
              <a:r>
                <a:rPr lang="zh-CN" altLang="zh-CN" sz="2000"/>
                <a:t>可以看出变量</a:t>
              </a:r>
              <a:r>
                <a:rPr lang="en-US" altLang="zh-CN" sz="2000"/>
                <a:t>m</a:t>
              </a:r>
              <a:r>
                <a:rPr lang="zh-CN" altLang="zh-CN" sz="2000"/>
                <a:t>存放的是某种组合的资金量。从语句</a:t>
              </a:r>
              <a:r>
                <a:rPr lang="en-US" altLang="zh-CN" sz="2000"/>
                <a:t>List1.AddItem ″</a:t>
              </a:r>
              <a:r>
                <a:rPr lang="zh-CN" altLang="zh-CN" sz="2000"/>
                <a:t>共有</a:t>
              </a:r>
              <a:r>
                <a:rPr lang="en-US" altLang="zh-CN" sz="2000"/>
                <a:t>″ + Str(s) + ″</a:t>
              </a:r>
              <a:r>
                <a:rPr lang="zh-CN" altLang="zh-CN" sz="2000"/>
                <a:t>种组合</a:t>
              </a:r>
              <a:r>
                <a:rPr lang="en-US" altLang="zh-CN" sz="2000"/>
                <a:t>!″</a:t>
              </a:r>
              <a:r>
                <a:rPr lang="zh-CN" altLang="zh-CN" sz="2000"/>
                <a:t>可以看出变量</a:t>
              </a:r>
              <a:r>
                <a:rPr lang="en-US" altLang="zh-CN" sz="2000"/>
                <a:t>s</a:t>
              </a:r>
              <a:r>
                <a:rPr lang="zh-CN" altLang="zh-CN" sz="2000"/>
                <a:t>存放的是组合数量。</a:t>
              </a:r>
              <a:endParaRPr lang="zh-CN" altLang="zh-CN" sz="20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nvGrpSpPr>
          <p:cNvPr id="23" name="组合 22"/>
          <p:cNvGrpSpPr/>
          <p:nvPr/>
        </p:nvGrpSpPr>
        <p:grpSpPr>
          <a:xfrm>
            <a:off x="251520" y="5517232"/>
            <a:ext cx="8640960" cy="1152128"/>
            <a:chOff x="251520" y="4752548"/>
            <a:chExt cx="8640960" cy="1152128"/>
          </a:xfrm>
        </p:grpSpPr>
        <p:grpSp>
          <p:nvGrpSpPr>
            <p:cNvPr id="24" name="组合 23"/>
            <p:cNvGrpSpPr/>
            <p:nvPr/>
          </p:nvGrpSpPr>
          <p:grpSpPr>
            <a:xfrm>
              <a:off x="251520" y="4752548"/>
              <a:ext cx="8640960" cy="1152128"/>
              <a:chOff x="251520" y="3755469"/>
              <a:chExt cx="8640960" cy="1152128"/>
            </a:xfrm>
          </p:grpSpPr>
          <p:sp>
            <p:nvSpPr>
              <p:cNvPr id="26" name="五边形 25"/>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27" name="五边形 26"/>
              <p:cNvSpPr/>
              <p:nvPr/>
            </p:nvSpPr>
            <p:spPr>
              <a:xfrm>
                <a:off x="6916239" y="4619565"/>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28" name="燕尾形 27"/>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矩形 28"/>
              <p:cNvSpPr/>
              <p:nvPr/>
            </p:nvSpPr>
            <p:spPr>
              <a:xfrm>
                <a:off x="251520" y="3755469"/>
                <a:ext cx="8640960" cy="836693"/>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48"/>
              <p:cNvSpPr txBox="1"/>
              <p:nvPr/>
            </p:nvSpPr>
            <p:spPr>
              <a:xfrm>
                <a:off x="8388424" y="3872081"/>
                <a:ext cx="492443" cy="276999"/>
              </a:xfrm>
              <a:prstGeom prst="rect">
                <a:avLst/>
              </a:prstGeom>
              <a:noFill/>
            </p:spPr>
            <p:txBody>
              <a:bodyPr wrap="none" rtlCol="0">
                <a:spAutoFit/>
              </a:bodyPr>
              <a:lstStyle/>
              <a:p>
                <a:r>
                  <a:rPr lang="zh-CN" altLang="en-US" sz="1200" dirty="0"/>
                  <a:t>关闭</a:t>
                </a:r>
              </a:p>
            </p:txBody>
          </p:sp>
        </p:grpSp>
        <p:sp>
          <p:nvSpPr>
            <p:cNvPr id="25" name="矩形 24"/>
            <p:cNvSpPr>
              <a:spLocks noChangeAspect="1"/>
            </p:cNvSpPr>
            <p:nvPr/>
          </p:nvSpPr>
          <p:spPr>
            <a:xfrm>
              <a:off x="539552" y="5009401"/>
              <a:ext cx="8064896" cy="400110"/>
            </a:xfrm>
            <a:prstGeom prst="rect">
              <a:avLst/>
            </a:prstGeom>
          </p:spPr>
          <p:txBody>
            <a:bodyPr wrap="square">
              <a:spAutoFit/>
            </a:bodyPr>
            <a:lstStyle/>
            <a:p>
              <a:r>
                <a:rPr lang="zh-CN" altLang="zh-CN" sz="2000"/>
                <a:t> </a:t>
              </a:r>
              <a:r>
                <a:rPr lang="en-US" altLang="zh-CN" sz="2000"/>
                <a:t>(1)</a:t>
              </a:r>
              <a:r>
                <a:rPr lang="zh-CN" altLang="zh-CN" sz="2000"/>
                <a:t>枚举算法　</a:t>
              </a:r>
              <a:r>
                <a:rPr lang="en-US" altLang="zh-CN" sz="2000"/>
                <a:t>(2)one+five*5</a:t>
              </a:r>
              <a:r>
                <a:rPr lang="zh-CN" altLang="zh-CN" sz="2000"/>
                <a:t>　</a:t>
              </a:r>
              <a:r>
                <a:rPr lang="en-US" altLang="zh-CN" sz="2000"/>
                <a:t>s+1</a:t>
              </a:r>
              <a:endParaRPr lang="zh-CN" altLang="zh-CN" sz="2000"/>
            </a:p>
          </p:txBody>
        </p:sp>
      </p:grpSp>
    </p:spTree>
    <p:extLst>
      <p:ext uri="{BB962C8B-B14F-4D97-AF65-F5344CB8AC3E}">
        <p14:creationId xmlns:p14="http://schemas.microsoft.com/office/powerpoint/2010/main" val="2121435246"/>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3"/>
                    </p:tgtEl>
                  </p:cond>
                </p:stCondLst>
                <p:endSync evt="end" delay="0">
                  <p:rtn val="all"/>
                </p:endSync>
                <p:childTnLst>
                  <p:par>
                    <p:cTn id="15" fill="hold">
                      <p:stCondLst>
                        <p:cond delay="0"/>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childTnLst>
                    </p:cTn>
                  </p:par>
                </p:childTnLst>
              </p:cTn>
              <p:nextCondLst>
                <p:cond evt="onClick" delay="0">
                  <p:tgtEl>
                    <p:spTgt spid="13"/>
                  </p:tgtEl>
                </p:cond>
              </p:nextCondLst>
            </p:seq>
            <p:seq concurrent="1" nextAc="seek">
              <p:cTn id="20" restart="whenNotActive" fill="hold" evtFilter="cancelBubble" nodeType="interactiveSeq">
                <p:stCondLst>
                  <p:cond evt="onClick" delay="0">
                    <p:tgtEl>
                      <p:spTgt spid="23"/>
                    </p:tgtEl>
                  </p:cond>
                </p:stCondLst>
                <p:endSync evt="end" delay="0">
                  <p:rtn val="all"/>
                </p:endSync>
                <p:childTnLst>
                  <p:par>
                    <p:cTn id="21" fill="hold">
                      <p:stCondLst>
                        <p:cond delay="0"/>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23"/>
                                        </p:tgtEl>
                                      </p:cBhvr>
                                    </p:animEffect>
                                    <p:set>
                                      <p:cBhvr>
                                        <p:cTn id="25"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26</a:t>
            </a:fld>
            <a:r>
              <a:rPr lang="en-US" altLang="zh-CN"/>
              <a:t>-</a:t>
            </a:r>
            <a:endParaRPr lang="zh-CN" altLang="en-US" dirty="0"/>
          </a:p>
        </p:txBody>
      </p:sp>
      <p:sp>
        <p:nvSpPr>
          <p:cNvPr id="49" name="椭圆 48">
            <a:hlinkClick r:id="rId3"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4"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5"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6"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7"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8"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9" action="ppaction://hlinksldjump"/>
          </p:cNvPr>
          <p:cNvSpPr/>
          <p:nvPr/>
        </p:nvSpPr>
        <p:spPr>
          <a:xfrm>
            <a:off x="2331244"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56" name="椭圆 55">
            <a:hlinkClick r:id="rId10"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2" name="椭圆 11">
            <a:hlinkClick r:id="rId11"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 name="矩形 2"/>
          <p:cNvSpPr>
            <a:spLocks noChangeAspect="1"/>
          </p:cNvSpPr>
          <p:nvPr/>
        </p:nvSpPr>
        <p:spPr>
          <a:xfrm>
            <a:off x="508000" y="1484313"/>
            <a:ext cx="8128000" cy="517064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7</a:t>
            </a:r>
            <a:r>
              <a:rPr lang="en-US" altLang="zh-CN" sz="2200">
                <a:solidFill>
                  <a:srgbClr val="000000"/>
                </a:solidFill>
                <a:latin typeface="Times New Roman" panose="02020603050405020304" pitchFamily="18" charset="0"/>
                <a:cs typeface="Times New Roman" panose="02020603050405020304" pitchFamily="18" charset="0"/>
              </a:rPr>
              <a:t>.(2016·10</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浙江学考</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对称字符串的特征是从左到右读和从右到左读完全一样的。如</a:t>
            </a:r>
            <a:r>
              <a:rPr lang="en-US" altLang="zh-CN" sz="2200">
                <a:solidFill>
                  <a:srgbClr val="000000"/>
                </a:solidFill>
                <a:latin typeface="Times New Roman" panose="02020603050405020304" pitchFamily="18" charset="0"/>
                <a:cs typeface="Times New Roman" panose="02020603050405020304" pitchFamily="18" charset="0"/>
              </a:rPr>
              <a:t>“abba”</a:t>
            </a:r>
            <a:r>
              <a:rPr lang="zh-CN" altLang="zh-CN" sz="2200">
                <a:solidFill>
                  <a:srgbClr val="000000"/>
                </a:solidFill>
                <a:latin typeface="Times New Roman" panose="02020603050405020304" pitchFamily="18" charset="0"/>
                <a:cs typeface="Times New Roman" panose="02020603050405020304" pitchFamily="18" charset="0"/>
              </a:rPr>
              <a:t>是对称的</a:t>
            </a:r>
            <a:r>
              <a:rPr lang="en-US" altLang="zh-CN" sz="2200">
                <a:solidFill>
                  <a:srgbClr val="000000"/>
                </a:solidFill>
                <a:latin typeface="Times New Roman" panose="02020603050405020304" pitchFamily="18" charset="0"/>
                <a:cs typeface="Times New Roman" panose="02020603050405020304" pitchFamily="18" charset="0"/>
              </a:rPr>
              <a:t>,“abcba”</a:t>
            </a:r>
            <a:r>
              <a:rPr lang="zh-CN" altLang="zh-CN" sz="2200">
                <a:solidFill>
                  <a:srgbClr val="000000"/>
                </a:solidFill>
                <a:latin typeface="Times New Roman" panose="02020603050405020304" pitchFamily="18" charset="0"/>
                <a:cs typeface="Times New Roman" panose="02020603050405020304" pitchFamily="18" charset="0"/>
              </a:rPr>
              <a:t>也是对称的。判断字符串是否对称的</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cs typeface="Times New Roman" panose="02020603050405020304" pitchFamily="18" charset="0"/>
              </a:rPr>
              <a:t>程序段如下</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N=Len(s)</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K=0:j=n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For i=1 To n/2</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Next i</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k=0 Then Label1.Caption=″</a:t>
            </a:r>
            <a:r>
              <a:rPr lang="zh-CN" altLang="zh-CN" sz="2200">
                <a:solidFill>
                  <a:srgbClr val="000000"/>
                </a:solidFill>
                <a:latin typeface="Times New Roman" panose="02020603050405020304" pitchFamily="18" charset="0"/>
                <a:cs typeface="Times New Roman" panose="02020603050405020304" pitchFamily="18" charset="0"/>
              </a:rPr>
              <a:t>对称</a:t>
            </a:r>
            <a:r>
              <a:rPr lang="en-US" altLang="zh-CN" sz="2200">
                <a:solidFill>
                  <a:srgbClr val="000000"/>
                </a:solidFill>
                <a:latin typeface="Times New Roman" panose="02020603050405020304" pitchFamily="18" charset="0"/>
                <a:cs typeface="Times New Roman" panose="02020603050405020304" pitchFamily="18" charset="0"/>
              </a:rPr>
              <a:t>″ Else Label1.Caption=″</a:t>
            </a:r>
            <a:r>
              <a:rPr lang="zh-CN" altLang="zh-CN" sz="2200">
                <a:solidFill>
                  <a:srgbClr val="000000"/>
                </a:solidFill>
                <a:latin typeface="Times New Roman" panose="02020603050405020304" pitchFamily="18" charset="0"/>
                <a:cs typeface="Times New Roman" panose="02020603050405020304" pitchFamily="18" charset="0"/>
              </a:rPr>
              <a:t>不对称</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方框中的代码由以下三部分组成</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①</a:t>
            </a:r>
            <a:r>
              <a:rPr lang="en-US" altLang="zh-CN" sz="2200">
                <a:solidFill>
                  <a:srgbClr val="000000"/>
                </a:solidFill>
                <a:latin typeface="Times New Roman" panose="02020603050405020304" pitchFamily="18" charset="0"/>
                <a:cs typeface="Times New Roman" panose="02020603050405020304" pitchFamily="18" charset="0"/>
              </a:rPr>
              <a:t>j=j-1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②</a:t>
            </a:r>
            <a:r>
              <a:rPr lang="en-US" altLang="zh-CN" sz="2200">
                <a:solidFill>
                  <a:srgbClr val="000000"/>
                </a:solidFill>
                <a:latin typeface="Times New Roman" panose="02020603050405020304" pitchFamily="18" charset="0"/>
                <a:cs typeface="Times New Roman" panose="02020603050405020304" pitchFamily="18" charset="0"/>
              </a:rPr>
              <a:t>If c1&lt;&gt;c2 Then k=k+1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③</a:t>
            </a:r>
            <a:r>
              <a:rPr lang="en-US" altLang="zh-CN" sz="2200">
                <a:solidFill>
                  <a:srgbClr val="000000"/>
                </a:solidFill>
                <a:latin typeface="Times New Roman" panose="02020603050405020304" pitchFamily="18" charset="0"/>
                <a:cs typeface="Times New Roman" panose="02020603050405020304" pitchFamily="18" charset="0"/>
              </a:rPr>
              <a:t>c1=Mid(s,i,1):c2=Mid(s,j,1)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代码顺序正确的选项是</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A.</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①③②</a:t>
            </a:r>
            <a:r>
              <a:rPr lang="en-US" altLang="zh-CN" sz="2200">
                <a:solidFill>
                  <a:srgbClr val="000000"/>
                </a:solidFill>
                <a:latin typeface="Times New Roman" panose="02020603050405020304" pitchFamily="18" charset="0"/>
                <a:cs typeface="Times New Roman" panose="02020603050405020304" pitchFamily="18" charset="0"/>
              </a:rPr>
              <a:t>	B.</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②③①   </a:t>
            </a:r>
            <a:r>
              <a:rPr lang="en-US" altLang="zh-CN" sz="2200">
                <a:solidFill>
                  <a:srgbClr val="000000"/>
                </a:solidFill>
                <a:latin typeface="Times New Roman" panose="02020603050405020304" pitchFamily="18" charset="0"/>
                <a:cs typeface="Times New Roman" panose="02020603050405020304" pitchFamily="18" charset="0"/>
              </a:rPr>
              <a:t>C.</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③②①</a:t>
            </a:r>
            <a:r>
              <a:rPr lang="en-US" altLang="zh-CN" sz="2200">
                <a:solidFill>
                  <a:srgbClr val="000000"/>
                </a:solidFill>
                <a:latin typeface="Times New Roman" panose="02020603050405020304" pitchFamily="18" charset="0"/>
                <a:cs typeface="Times New Roman" panose="02020603050405020304" pitchFamily="18" charset="0"/>
              </a:rPr>
              <a:t>	D.</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②①③</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4" name="五边形 13"/>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15" name="五边形 14"/>
          <p:cNvSpPr/>
          <p:nvPr/>
        </p:nvSpPr>
        <p:spPr>
          <a:xfrm>
            <a:off x="6916239"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grpSp>
        <p:nvGrpSpPr>
          <p:cNvPr id="16" name="组合 15"/>
          <p:cNvGrpSpPr/>
          <p:nvPr/>
        </p:nvGrpSpPr>
        <p:grpSpPr>
          <a:xfrm>
            <a:off x="251520" y="2996953"/>
            <a:ext cx="8640960" cy="3672407"/>
            <a:chOff x="251520" y="793680"/>
            <a:chExt cx="8640960" cy="3672407"/>
          </a:xfrm>
        </p:grpSpPr>
        <p:grpSp>
          <p:nvGrpSpPr>
            <p:cNvPr id="17" name="组合 16"/>
            <p:cNvGrpSpPr/>
            <p:nvPr/>
          </p:nvGrpSpPr>
          <p:grpSpPr>
            <a:xfrm>
              <a:off x="251520" y="793680"/>
              <a:ext cx="8640960" cy="3672407"/>
              <a:chOff x="251520" y="-1251519"/>
              <a:chExt cx="8640960" cy="3672407"/>
            </a:xfrm>
          </p:grpSpPr>
          <p:sp>
            <p:nvSpPr>
              <p:cNvPr id="19" name="五边形 18"/>
              <p:cNvSpPr/>
              <p:nvPr/>
            </p:nvSpPr>
            <p:spPr>
              <a:xfrm>
                <a:off x="6916239" y="2132856"/>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20" name="燕尾形 19"/>
              <p:cNvSpPr/>
              <p:nvPr/>
            </p:nvSpPr>
            <p:spPr>
              <a:xfrm>
                <a:off x="7031380" y="2209856"/>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1" name="组合 20"/>
              <p:cNvGrpSpPr/>
              <p:nvPr/>
            </p:nvGrpSpPr>
            <p:grpSpPr>
              <a:xfrm>
                <a:off x="251520" y="-1251519"/>
                <a:ext cx="8640960" cy="3355400"/>
                <a:chOff x="251520" y="-1251519"/>
                <a:chExt cx="8640960" cy="3355400"/>
              </a:xfrm>
            </p:grpSpPr>
            <p:sp>
              <p:nvSpPr>
                <p:cNvPr id="22" name="矩形 21"/>
                <p:cNvSpPr/>
                <p:nvPr/>
              </p:nvSpPr>
              <p:spPr>
                <a:xfrm>
                  <a:off x="251520" y="-1251519"/>
                  <a:ext cx="8640960" cy="3355400"/>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8"/>
                <p:cNvSpPr txBox="1"/>
                <p:nvPr/>
              </p:nvSpPr>
              <p:spPr>
                <a:xfrm>
                  <a:off x="8371094" y="-1107504"/>
                  <a:ext cx="492443" cy="276999"/>
                </a:xfrm>
                <a:prstGeom prst="rect">
                  <a:avLst/>
                </a:prstGeom>
                <a:noFill/>
              </p:spPr>
              <p:txBody>
                <a:bodyPr wrap="none" rtlCol="0">
                  <a:spAutoFit/>
                </a:bodyPr>
                <a:lstStyle/>
                <a:p>
                  <a:r>
                    <a:rPr lang="zh-CN" altLang="en-US" sz="1200" dirty="0"/>
                    <a:t>关闭</a:t>
                  </a:r>
                </a:p>
              </p:txBody>
            </p:sp>
          </p:grpSp>
        </p:grpSp>
        <p:sp>
          <p:nvSpPr>
            <p:cNvPr id="18" name="矩形 17"/>
            <p:cNvSpPr>
              <a:spLocks noChangeAspect="1"/>
            </p:cNvSpPr>
            <p:nvPr/>
          </p:nvSpPr>
          <p:spPr>
            <a:xfrm>
              <a:off x="508000" y="1236134"/>
              <a:ext cx="8128000" cy="1405193"/>
            </a:xfrm>
            <a:prstGeom prst="rect">
              <a:avLst/>
            </a:prstGeom>
          </p:spPr>
          <p:txBody>
            <a:bodyPr>
              <a:spAutoFit/>
            </a:bodyPr>
            <a:lstStyle/>
            <a:p>
              <a:pPr>
                <a:lnSpc>
                  <a:spcPct val="150000"/>
                </a:lnSpc>
                <a:spcAft>
                  <a:spcPts val="0"/>
                </a:spcAft>
                <a:tabLst>
                  <a:tab pos="1029335" algn="l"/>
                  <a:tab pos="1850390" algn="l"/>
                  <a:tab pos="2538095" algn="l"/>
                  <a:tab pos="3221990" algn="l"/>
                </a:tabLst>
              </a:pPr>
              <a:r>
                <a:rPr lang="zh-CN" altLang="zh-CN" sz="2000"/>
                <a:t>程序通过逐个比较字符串两端的字符</a:t>
              </a:r>
              <a:r>
                <a:rPr lang="en-US" altLang="zh-CN" sz="2000"/>
                <a:t>,</a:t>
              </a:r>
              <a:r>
                <a:rPr lang="zh-CN" altLang="zh-CN" sz="2000"/>
                <a:t>如果一一对应相等</a:t>
              </a:r>
              <a:r>
                <a:rPr lang="en-US" altLang="zh-CN" sz="2000"/>
                <a:t>,K</a:t>
              </a:r>
              <a:r>
                <a:rPr lang="zh-CN" altLang="zh-CN" sz="2000"/>
                <a:t>值始终不变为</a:t>
              </a:r>
              <a:r>
                <a:rPr lang="en-US" altLang="zh-CN" sz="2000"/>
                <a:t>0,</a:t>
              </a:r>
              <a:r>
                <a:rPr lang="zh-CN" altLang="zh-CN" sz="2000"/>
                <a:t>则字符串是对称的。如果有一个不对应相等</a:t>
              </a:r>
              <a:r>
                <a:rPr lang="en-US" altLang="zh-CN" sz="2000"/>
                <a:t>,</a:t>
              </a:r>
              <a:r>
                <a:rPr lang="zh-CN" altLang="zh-CN" sz="2000"/>
                <a:t>则</a:t>
              </a:r>
              <a:r>
                <a:rPr lang="en-US" altLang="zh-CN" sz="2000"/>
                <a:t>K</a:t>
              </a:r>
              <a:r>
                <a:rPr lang="zh-CN" altLang="zh-CN" sz="2000"/>
                <a:t>变成</a:t>
              </a:r>
              <a:r>
                <a:rPr lang="en-US" altLang="zh-CN" sz="2000"/>
                <a:t>1,</a:t>
              </a:r>
              <a:r>
                <a:rPr lang="zh-CN" altLang="zh-CN" sz="2000"/>
                <a:t>则字符串不是对称的。</a:t>
              </a:r>
              <a:endParaRPr lang="zh-CN" altLang="zh-CN" sz="20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nvGrpSpPr>
          <p:cNvPr id="24" name="组合 23"/>
          <p:cNvGrpSpPr/>
          <p:nvPr/>
        </p:nvGrpSpPr>
        <p:grpSpPr>
          <a:xfrm>
            <a:off x="251520" y="5517232"/>
            <a:ext cx="8640960" cy="1152128"/>
            <a:chOff x="251520" y="4752548"/>
            <a:chExt cx="8640960" cy="1152128"/>
          </a:xfrm>
        </p:grpSpPr>
        <p:grpSp>
          <p:nvGrpSpPr>
            <p:cNvPr id="25" name="组合 24"/>
            <p:cNvGrpSpPr/>
            <p:nvPr/>
          </p:nvGrpSpPr>
          <p:grpSpPr>
            <a:xfrm>
              <a:off x="251520" y="4752548"/>
              <a:ext cx="8640960" cy="1152128"/>
              <a:chOff x="251520" y="3755469"/>
              <a:chExt cx="8640960" cy="1152128"/>
            </a:xfrm>
          </p:grpSpPr>
          <p:sp>
            <p:nvSpPr>
              <p:cNvPr id="27" name="五边形 26"/>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28" name="五边形 27"/>
              <p:cNvSpPr/>
              <p:nvPr/>
            </p:nvSpPr>
            <p:spPr>
              <a:xfrm>
                <a:off x="6916239" y="4619565"/>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29" name="燕尾形 28"/>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矩形 29"/>
              <p:cNvSpPr/>
              <p:nvPr/>
            </p:nvSpPr>
            <p:spPr>
              <a:xfrm>
                <a:off x="251520" y="3755469"/>
                <a:ext cx="8640960" cy="836693"/>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48"/>
              <p:cNvSpPr txBox="1"/>
              <p:nvPr/>
            </p:nvSpPr>
            <p:spPr>
              <a:xfrm>
                <a:off x="8388424" y="3872081"/>
                <a:ext cx="492443" cy="276999"/>
              </a:xfrm>
              <a:prstGeom prst="rect">
                <a:avLst/>
              </a:prstGeom>
              <a:noFill/>
            </p:spPr>
            <p:txBody>
              <a:bodyPr wrap="none" rtlCol="0">
                <a:spAutoFit/>
              </a:bodyPr>
              <a:lstStyle/>
              <a:p>
                <a:r>
                  <a:rPr lang="zh-CN" altLang="en-US" sz="1200" dirty="0"/>
                  <a:t>关闭</a:t>
                </a:r>
              </a:p>
            </p:txBody>
          </p:sp>
        </p:grpSp>
        <p:sp>
          <p:nvSpPr>
            <p:cNvPr id="26" name="矩形 25"/>
            <p:cNvSpPr>
              <a:spLocks noChangeAspect="1"/>
            </p:cNvSpPr>
            <p:nvPr/>
          </p:nvSpPr>
          <p:spPr>
            <a:xfrm>
              <a:off x="539552" y="5009401"/>
              <a:ext cx="8064896" cy="400110"/>
            </a:xfrm>
            <a:prstGeom prst="rect">
              <a:avLst/>
            </a:prstGeom>
          </p:spPr>
          <p:txBody>
            <a:bodyPr wrap="square">
              <a:spAutoFit/>
            </a:bodyPr>
            <a:lstStyle/>
            <a:p>
              <a:r>
                <a:rPr lang="en-US" altLang="zh-CN" sz="2000"/>
                <a:t>C</a:t>
              </a:r>
              <a:endParaRPr lang="zh-CN" altLang="zh-CN" sz="2000"/>
            </a:p>
          </p:txBody>
        </p:sp>
      </p:grpSp>
    </p:spTree>
    <p:extLst>
      <p:ext uri="{BB962C8B-B14F-4D97-AF65-F5344CB8AC3E}">
        <p14:creationId xmlns:p14="http://schemas.microsoft.com/office/powerpoint/2010/main" val="3701644123"/>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down)">
                                      <p:cBhvr>
                                        <p:cTn id="19" dur="500"/>
                                        <p:tgtEl>
                                          <p:spTgt spid="24"/>
                                        </p:tgtEl>
                                      </p:cBhvr>
                                    </p:animEffect>
                                  </p:child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24"/>
                    </p:tgtEl>
                  </p:cond>
                </p:stCondLst>
                <p:endSync evt="end" delay="0">
                  <p:rtn val="all"/>
                </p:endSync>
                <p:childTnLst>
                  <p:par>
                    <p:cTn id="21" fill="hold">
                      <p:stCondLst>
                        <p:cond delay="0"/>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24"/>
                                        </p:tgtEl>
                                      </p:cBhvr>
                                    </p:animEffect>
                                    <p:set>
                                      <p:cBhvr>
                                        <p:cTn id="25"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27</a:t>
            </a:fld>
            <a:r>
              <a:rPr lang="en-US" altLang="zh-CN"/>
              <a:t>-</a:t>
            </a:r>
            <a:endParaRPr lang="zh-CN" altLang="en-US" dirty="0"/>
          </a:p>
        </p:txBody>
      </p:sp>
      <p:sp>
        <p:nvSpPr>
          <p:cNvPr id="49" name="椭圆 48">
            <a:hlinkClick r:id="rId3"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4"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5"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6"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7"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8"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9"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10" action="ppaction://hlinksldjump"/>
          </p:cNvPr>
          <p:cNvSpPr/>
          <p:nvPr/>
        </p:nvSpPr>
        <p:spPr>
          <a:xfrm>
            <a:off x="2654552"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13" name="椭圆 12">
            <a:hlinkClick r:id="rId11"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5" name="矩形 4"/>
          <p:cNvSpPr>
            <a:spLocks noChangeAspect="1"/>
          </p:cNvSpPr>
          <p:nvPr/>
        </p:nvSpPr>
        <p:spPr>
          <a:xfrm>
            <a:off x="508000" y="1468819"/>
            <a:ext cx="8128000" cy="247599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8</a:t>
            </a:r>
            <a:r>
              <a:rPr lang="en-US" altLang="zh-CN" sz="2200">
                <a:solidFill>
                  <a:srgbClr val="000000"/>
                </a:solidFill>
                <a:latin typeface="Times New Roman" panose="02020603050405020304" pitchFamily="18" charset="0"/>
                <a:cs typeface="Times New Roman" panose="02020603050405020304" pitchFamily="18" charset="0"/>
              </a:rPr>
              <a:t>.(2018·4</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浙江学考</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某种编码以</a:t>
            </a:r>
            <a:r>
              <a:rPr lang="en-US" altLang="zh-CN" sz="2200">
                <a:solidFill>
                  <a:srgbClr val="000000"/>
                </a:solidFill>
                <a:latin typeface="Times New Roman" panose="02020603050405020304" pitchFamily="18" charset="0"/>
                <a:cs typeface="Times New Roman" panose="02020603050405020304" pitchFamily="18" charset="0"/>
              </a:rPr>
              <a:t>4</a:t>
            </a:r>
            <a:r>
              <a:rPr lang="zh-CN" altLang="zh-CN" sz="2200">
                <a:solidFill>
                  <a:srgbClr val="000000"/>
                </a:solidFill>
                <a:latin typeface="Times New Roman" panose="02020603050405020304" pitchFamily="18" charset="0"/>
                <a:cs typeface="Times New Roman" panose="02020603050405020304" pitchFamily="18" charset="0"/>
              </a:rPr>
              <a:t>位二进制码为一组</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每组前两位表示方向</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后两位表示距离。编写一个程序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将编码翻译成方向和距离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距离值为每组编码后两位二进制码转换为十进制数的值。具体功能如下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在文本框</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中输入连续多组编码</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翻译</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按钮</a:t>
            </a:r>
            <a:r>
              <a:rPr lang="en-US" altLang="zh-CN" sz="2200">
                <a:solidFill>
                  <a:srgbClr val="000000"/>
                </a:solidFill>
                <a:latin typeface="Times New Roman" panose="02020603050405020304" pitchFamily="18" charset="0"/>
                <a:cs typeface="Times New Roman" panose="02020603050405020304" pitchFamily="18" charset="0"/>
              </a:rPr>
              <a:t>Commandl,</a:t>
            </a:r>
            <a:r>
              <a:rPr lang="zh-CN" altLang="zh-CN" sz="2200">
                <a:solidFill>
                  <a:srgbClr val="000000"/>
                </a:solidFill>
                <a:latin typeface="Times New Roman" panose="02020603050405020304" pitchFamily="18" charset="0"/>
                <a:cs typeface="Times New Roman" panose="02020603050405020304" pitchFamily="18" charset="0"/>
              </a:rPr>
              <a:t>结果显示在列表框</a:t>
            </a:r>
            <a:r>
              <a:rPr lang="en-US" altLang="zh-CN" sz="2200">
                <a:solidFill>
                  <a:srgbClr val="000000"/>
                </a:solidFill>
                <a:latin typeface="Times New Roman" panose="02020603050405020304" pitchFamily="18" charset="0"/>
                <a:cs typeface="Times New Roman" panose="02020603050405020304" pitchFamily="18" charset="0"/>
              </a:rPr>
              <a:t>List1</a:t>
            </a:r>
            <a:r>
              <a:rPr lang="zh-CN" altLang="zh-CN" sz="2200">
                <a:solidFill>
                  <a:srgbClr val="000000"/>
                </a:solidFill>
                <a:latin typeface="Times New Roman" panose="02020603050405020304" pitchFamily="18" charset="0"/>
                <a:cs typeface="Times New Roman" panose="02020603050405020304" pitchFamily="18" charset="0"/>
              </a:rPr>
              <a:t>中。</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程序运行界面如图所示。</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476354700"/>
              </p:ext>
            </p:extLst>
          </p:nvPr>
        </p:nvGraphicFramePr>
        <p:xfrm>
          <a:off x="508000" y="3932924"/>
          <a:ext cx="8128000" cy="2545031"/>
        </p:xfrm>
        <a:graphic>
          <a:graphicData uri="http://schemas.openxmlformats.org/presentationml/2006/ole">
            <mc:AlternateContent xmlns:mc="http://schemas.openxmlformats.org/markup-compatibility/2006">
              <mc:Choice xmlns:v="urn:schemas-microsoft-com:vml" Requires="v">
                <p:oleObj spid="_x0000_s7187" name="文档" r:id="rId12" imgW="3847376" imgH="1205510" progId="Word.Document.12">
                  <p:embed/>
                </p:oleObj>
              </mc:Choice>
              <mc:Fallback>
                <p:oleObj name="文档" r:id="rId12" imgW="3847376" imgH="1205510" progId="Word.Document.12">
                  <p:embed/>
                  <p:pic>
                    <p:nvPicPr>
                      <p:cNvPr id="0" name=""/>
                      <p:cNvPicPr/>
                      <p:nvPr/>
                    </p:nvPicPr>
                    <p:blipFill>
                      <a:blip r:embed="rId13"/>
                      <a:stretch>
                        <a:fillRect/>
                      </a:stretch>
                    </p:blipFill>
                    <p:spPr>
                      <a:xfrm>
                        <a:off x="508000" y="3932924"/>
                        <a:ext cx="8128000" cy="2545031"/>
                      </a:xfrm>
                      <a:prstGeom prst="rect">
                        <a:avLst/>
                      </a:prstGeom>
                    </p:spPr>
                  </p:pic>
                </p:oleObj>
              </mc:Fallback>
            </mc:AlternateContent>
          </a:graphicData>
        </a:graphic>
      </p:graphicFrame>
    </p:spTree>
    <p:extLst>
      <p:ext uri="{BB962C8B-B14F-4D97-AF65-F5344CB8AC3E}">
        <p14:creationId xmlns:p14="http://schemas.microsoft.com/office/powerpoint/2010/main" val="1646127434"/>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28</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13" name="椭圆 12">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 name="矩形 2"/>
          <p:cNvSpPr>
            <a:spLocks noChangeAspect="1"/>
          </p:cNvSpPr>
          <p:nvPr/>
        </p:nvSpPr>
        <p:spPr>
          <a:xfrm>
            <a:off x="508000" y="1484313"/>
            <a:ext cx="8128000" cy="510293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cs typeface="Times New Roman" panose="02020603050405020304" pitchFamily="18" charset="0"/>
              </a:rPr>
              <a:t>要使程序运行时</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文本框</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的</a:t>
            </a:r>
            <a:r>
              <a:rPr lang="en-US" altLang="zh-CN" sz="2200">
                <a:solidFill>
                  <a:srgbClr val="000000"/>
                </a:solidFill>
                <a:latin typeface="Times New Roman" panose="02020603050405020304" pitchFamily="18" charset="0"/>
                <a:cs typeface="Times New Roman" panose="02020603050405020304" pitchFamily="18" charset="0"/>
              </a:rPr>
              <a:t>Width</a:t>
            </a:r>
            <a:r>
              <a:rPr lang="zh-CN" altLang="zh-CN" sz="2200">
                <a:solidFill>
                  <a:srgbClr val="000000"/>
                </a:solidFill>
                <a:latin typeface="Times New Roman" panose="02020603050405020304" pitchFamily="18" charset="0"/>
                <a:cs typeface="Times New Roman" panose="02020603050405020304" pitchFamily="18" charset="0"/>
              </a:rPr>
              <a:t>属性值为</a:t>
            </a:r>
            <a:r>
              <a:rPr lang="en-US" altLang="zh-CN" sz="2200">
                <a:solidFill>
                  <a:srgbClr val="000000"/>
                </a:solidFill>
                <a:latin typeface="Times New Roman" panose="02020603050405020304" pitchFamily="18" charset="0"/>
                <a:cs typeface="Times New Roman" panose="02020603050405020304" pitchFamily="18" charset="0"/>
              </a:rPr>
              <a:t>2018,</a:t>
            </a:r>
            <a:r>
              <a:rPr lang="zh-CN" altLang="zh-CN" sz="2200">
                <a:solidFill>
                  <a:srgbClr val="000000"/>
                </a:solidFill>
                <a:latin typeface="Times New Roman" panose="02020603050405020304" pitchFamily="18" charset="0"/>
                <a:cs typeface="Times New Roman" panose="02020603050405020304" pitchFamily="18" charset="0"/>
              </a:rPr>
              <a:t>可在</a:t>
            </a:r>
            <a:r>
              <a:rPr lang="en-US" altLang="zh-CN" sz="2200">
                <a:solidFill>
                  <a:srgbClr val="000000"/>
                </a:solidFill>
                <a:latin typeface="Times New Roman" panose="02020603050405020304" pitchFamily="18" charset="0"/>
                <a:cs typeface="Times New Roman" panose="02020603050405020304" pitchFamily="18" charset="0"/>
              </a:rPr>
              <a:t>Form_Load</a:t>
            </a:r>
            <a:r>
              <a:rPr lang="zh-CN" altLang="zh-CN" sz="2200">
                <a:solidFill>
                  <a:srgbClr val="000000"/>
                </a:solidFill>
                <a:latin typeface="Times New Roman" panose="02020603050405020304" pitchFamily="18" charset="0"/>
                <a:cs typeface="Times New Roman" panose="02020603050405020304" pitchFamily="18" charset="0"/>
              </a:rPr>
              <a:t>事件过程中添加语句</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单选</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填字母</a:t>
            </a:r>
            <a:r>
              <a:rPr lang="en-US" altLang="zh-CN" sz="2200">
                <a:solidFill>
                  <a:srgbClr val="000000"/>
                </a:solidFill>
                <a:latin typeface="Times New Roman" panose="02020603050405020304" pitchFamily="18" charset="0"/>
                <a:cs typeface="Times New Roman" panose="02020603050405020304" pitchFamily="18" charset="0"/>
              </a:rPr>
              <a:t>:A.Width=2018/B.Text1.Width=2018/C.Width.Text1=2018)</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(2)</a:t>
            </a:r>
            <a:r>
              <a:rPr lang="zh-CN" altLang="zh-CN" sz="2200">
                <a:solidFill>
                  <a:srgbClr val="000000"/>
                </a:solidFill>
                <a:latin typeface="Times New Roman" panose="02020603050405020304" pitchFamily="18" charset="0"/>
                <a:cs typeface="Times New Roman" panose="02020603050405020304" pitchFamily="18" charset="0"/>
              </a:rPr>
              <a:t>实现上述功能的</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cs typeface="Times New Roman" panose="02020603050405020304" pitchFamily="18" charset="0"/>
              </a:rPr>
              <a:t>程序如下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请在划线处填入合适的代码。</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Command1_Click()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s As String,c As</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String,d As String</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n As Integer,bl As Integer,b2 As Integer,v As Integer,i As Integer</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s=Text1.Text:n=Len(s):i=1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Do While i&lt;=n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c=Mid(s,i,2)</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c=″00″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a:t>
            </a:r>
            <a:r>
              <a:rPr lang="zh-CN" altLang="zh-CN" sz="2200">
                <a:solidFill>
                  <a:srgbClr val="000000"/>
                </a:solidFill>
                <a:latin typeface="Times New Roman" panose="02020603050405020304" pitchFamily="18" charset="0"/>
                <a:cs typeface="Times New Roman" panose="02020603050405020304" pitchFamily="18" charset="0"/>
              </a:rPr>
              <a:t>东</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ElseIf c=″01″Then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a:t>
            </a:r>
            <a:r>
              <a:rPr lang="zh-CN" altLang="zh-CN" sz="2200">
                <a:solidFill>
                  <a:srgbClr val="000000"/>
                </a:solidFill>
                <a:latin typeface="Times New Roman" panose="02020603050405020304" pitchFamily="18" charset="0"/>
                <a:cs typeface="Times New Roman" panose="02020603050405020304" pitchFamily="18" charset="0"/>
              </a:rPr>
              <a:t>南</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39841392"/>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29</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13" name="椭圆 12">
            <a:hlinkClick r:id="rId10" action="ppaction://hlinksldjump"/>
          </p:cNvPr>
          <p:cNvSpPr/>
          <p:nvPr/>
        </p:nvSpPr>
        <p:spPr>
          <a:xfrm>
            <a:off x="297786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D242B"/>
                </a:solidFill>
              </a:rPr>
              <a:t>9</a:t>
            </a:r>
            <a:endParaRPr lang="zh-CN" altLang="en-US" dirty="0">
              <a:solidFill>
                <a:srgbClr val="CD242B"/>
              </a:solidFill>
            </a:endParaRPr>
          </a:p>
        </p:txBody>
      </p:sp>
      <p:sp>
        <p:nvSpPr>
          <p:cNvPr id="3" name="矩形 2"/>
          <p:cNvSpPr>
            <a:spLocks noChangeAspect="1"/>
          </p:cNvSpPr>
          <p:nvPr/>
        </p:nvSpPr>
        <p:spPr>
          <a:xfrm>
            <a:off x="508000" y="1484313"/>
            <a:ext cx="8128000" cy="4967514"/>
          </a:xfrm>
          <a:prstGeom prst="rect">
            <a:avLst/>
          </a:prstGeom>
        </p:spPr>
        <p:txBody>
          <a:bodyPr>
            <a:spAutoFit/>
          </a:bodyPr>
          <a:lstStyle/>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ElseIf c=″10″ 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a:t>
            </a:r>
            <a:r>
              <a:rPr lang="zh-CN" altLang="zh-CN" sz="2200">
                <a:solidFill>
                  <a:srgbClr val="000000"/>
                </a:solidFill>
                <a:latin typeface="Times New Roman" panose="02020603050405020304" pitchFamily="18" charset="0"/>
                <a:cs typeface="Times New Roman" panose="02020603050405020304" pitchFamily="18" charset="0"/>
              </a:rPr>
              <a:t>西</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a:t>
            </a:r>
            <a:r>
              <a:rPr lang="zh-CN" altLang="zh-CN" sz="2200">
                <a:solidFill>
                  <a:srgbClr val="000000"/>
                </a:solidFill>
                <a:latin typeface="Times New Roman" panose="02020603050405020304" pitchFamily="18" charset="0"/>
                <a:cs typeface="Times New Roman" panose="02020603050405020304" pitchFamily="18" charset="0"/>
              </a:rPr>
              <a:t>北</a:t>
            </a:r>
            <a:r>
              <a:rPr lang="en-US" altLang="zh-CN" sz="2200">
                <a:solidFill>
                  <a:srgbClr val="000000"/>
                </a:solidFill>
                <a:latin typeface="Times New Roman" panose="02020603050405020304" pitchFamily="18" charset="0"/>
                <a:cs typeface="Times New Roman" panose="02020603050405020304" pitchFamily="18" charset="0"/>
              </a:rPr>
              <a:t>″</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b1=Val(Mid(s,i+2,1))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b2=Val(Mid(s,i+3,1))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v=</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①</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List1.AddItem d+″ ″+Str(v)</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②</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Loop</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(3)</a:t>
            </a:r>
            <a:r>
              <a:rPr lang="zh-CN" altLang="zh-CN" sz="2200">
                <a:solidFill>
                  <a:srgbClr val="000000"/>
                </a:solidFill>
                <a:latin typeface="Times New Roman" panose="02020603050405020304" pitchFamily="18" charset="0"/>
                <a:cs typeface="Times New Roman" panose="02020603050405020304" pitchFamily="18" charset="0"/>
              </a:rPr>
              <a:t>若文本框</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中输入的内容为</a:t>
            </a:r>
            <a:r>
              <a:rPr lang="en-US" altLang="zh-CN" sz="2200">
                <a:solidFill>
                  <a:srgbClr val="000000"/>
                </a:solidFill>
                <a:latin typeface="Times New Roman" panose="02020603050405020304" pitchFamily="18" charset="0"/>
                <a:cs typeface="Times New Roman" panose="02020603050405020304" pitchFamily="18" charset="0"/>
              </a:rPr>
              <a:t>“1111”,</a:t>
            </a:r>
            <a:r>
              <a:rPr lang="zh-CN" altLang="zh-CN" sz="2200">
                <a:solidFill>
                  <a:srgbClr val="000000"/>
                </a:solidFill>
                <a:latin typeface="Times New Roman" panose="02020603050405020304" pitchFamily="18" charset="0"/>
                <a:cs typeface="Times New Roman" panose="02020603050405020304" pitchFamily="18" charset="0"/>
              </a:rPr>
              <a:t>单击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翻译</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按钮</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列表框</a:t>
            </a:r>
            <a:r>
              <a:rPr lang="en-US" altLang="zh-CN" sz="2200">
                <a:solidFill>
                  <a:srgbClr val="000000"/>
                </a:solidFill>
                <a:latin typeface="Times New Roman" panose="02020603050405020304" pitchFamily="18" charset="0"/>
                <a:cs typeface="Times New Roman" panose="02020603050405020304" pitchFamily="18" charset="0"/>
              </a:rPr>
              <a:t>List1</a:t>
            </a:r>
            <a:r>
              <a:rPr lang="zh-CN" altLang="zh-CN" sz="2200">
                <a:solidFill>
                  <a:srgbClr val="000000"/>
                </a:solidFill>
                <a:latin typeface="Times New Roman" panose="02020603050405020304" pitchFamily="18" charset="0"/>
                <a:cs typeface="Times New Roman" panose="02020603050405020304" pitchFamily="18" charset="0"/>
              </a:rPr>
              <a:t>中显示的内容是</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4" name="五边形 13"/>
          <p:cNvSpPr/>
          <p:nvPr/>
        </p:nvSpPr>
        <p:spPr>
          <a:xfrm>
            <a:off x="7812360"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15" name="五边形 14"/>
          <p:cNvSpPr/>
          <p:nvPr/>
        </p:nvSpPr>
        <p:spPr>
          <a:xfrm>
            <a:off x="6916239" y="6381328"/>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grpSp>
        <p:nvGrpSpPr>
          <p:cNvPr id="16" name="组合 15"/>
          <p:cNvGrpSpPr/>
          <p:nvPr/>
        </p:nvGrpSpPr>
        <p:grpSpPr>
          <a:xfrm>
            <a:off x="251520" y="2996953"/>
            <a:ext cx="8640960" cy="3672407"/>
            <a:chOff x="251520" y="793680"/>
            <a:chExt cx="8640960" cy="3672407"/>
          </a:xfrm>
        </p:grpSpPr>
        <p:grpSp>
          <p:nvGrpSpPr>
            <p:cNvPr id="17" name="组合 16"/>
            <p:cNvGrpSpPr/>
            <p:nvPr/>
          </p:nvGrpSpPr>
          <p:grpSpPr>
            <a:xfrm>
              <a:off x="251520" y="793680"/>
              <a:ext cx="8640960" cy="3672407"/>
              <a:chOff x="251520" y="-1251519"/>
              <a:chExt cx="8640960" cy="3672407"/>
            </a:xfrm>
          </p:grpSpPr>
          <p:sp>
            <p:nvSpPr>
              <p:cNvPr id="19" name="五边形 18"/>
              <p:cNvSpPr/>
              <p:nvPr/>
            </p:nvSpPr>
            <p:spPr>
              <a:xfrm>
                <a:off x="6916239" y="2132856"/>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20" name="燕尾形 19"/>
              <p:cNvSpPr/>
              <p:nvPr/>
            </p:nvSpPr>
            <p:spPr>
              <a:xfrm>
                <a:off x="7031380" y="2209856"/>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1" name="组合 20"/>
              <p:cNvGrpSpPr/>
              <p:nvPr/>
            </p:nvGrpSpPr>
            <p:grpSpPr>
              <a:xfrm>
                <a:off x="251520" y="-1251519"/>
                <a:ext cx="8640960" cy="3355400"/>
                <a:chOff x="251520" y="-1251519"/>
                <a:chExt cx="8640960" cy="3355400"/>
              </a:xfrm>
            </p:grpSpPr>
            <p:sp>
              <p:nvSpPr>
                <p:cNvPr id="22" name="矩形 21"/>
                <p:cNvSpPr/>
                <p:nvPr/>
              </p:nvSpPr>
              <p:spPr>
                <a:xfrm>
                  <a:off x="251520" y="-1251519"/>
                  <a:ext cx="8640960" cy="3355400"/>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8"/>
                <p:cNvSpPr txBox="1"/>
                <p:nvPr/>
              </p:nvSpPr>
              <p:spPr>
                <a:xfrm>
                  <a:off x="8371094" y="-1107504"/>
                  <a:ext cx="492443" cy="276999"/>
                </a:xfrm>
                <a:prstGeom prst="rect">
                  <a:avLst/>
                </a:prstGeom>
                <a:noFill/>
              </p:spPr>
              <p:txBody>
                <a:bodyPr wrap="none" rtlCol="0">
                  <a:spAutoFit/>
                </a:bodyPr>
                <a:lstStyle/>
                <a:p>
                  <a:r>
                    <a:rPr lang="zh-CN" altLang="en-US" sz="1200" dirty="0"/>
                    <a:t>关闭</a:t>
                  </a:r>
                </a:p>
              </p:txBody>
            </p:sp>
          </p:grpSp>
        </p:grpSp>
        <p:sp>
          <p:nvSpPr>
            <p:cNvPr id="18" name="矩形 17"/>
            <p:cNvSpPr>
              <a:spLocks noChangeAspect="1"/>
            </p:cNvSpPr>
            <p:nvPr/>
          </p:nvSpPr>
          <p:spPr>
            <a:xfrm>
              <a:off x="508000" y="1236134"/>
              <a:ext cx="8128000" cy="1418915"/>
            </a:xfrm>
            <a:prstGeom prst="rect">
              <a:avLst/>
            </a:prstGeom>
          </p:spPr>
          <p:txBody>
            <a:bodyPr>
              <a:spAutoFit/>
            </a:bodyPr>
            <a:lstStyle/>
            <a:p>
              <a:pPr>
                <a:lnSpc>
                  <a:spcPct val="150000"/>
                </a:lnSpc>
                <a:spcAft>
                  <a:spcPts val="0"/>
                </a:spcAft>
                <a:tabLst>
                  <a:tab pos="1029335" algn="l"/>
                  <a:tab pos="1850390" algn="l"/>
                  <a:tab pos="2538095" algn="l"/>
                  <a:tab pos="3221990" algn="l"/>
                </a:tabLst>
              </a:pPr>
              <a:r>
                <a:rPr lang="en-US" altLang="zh-CN" sz="2000"/>
                <a:t>(2)</a:t>
              </a:r>
              <a:r>
                <a:rPr lang="zh-CN" altLang="zh-CN" sz="2000"/>
                <a:t>每组编码</a:t>
              </a:r>
              <a:r>
                <a:rPr lang="en-US" altLang="zh-CN" sz="2000"/>
                <a:t>4</a:t>
              </a:r>
              <a:r>
                <a:rPr lang="zh-CN" altLang="zh-CN" sz="2000"/>
                <a:t>位</a:t>
              </a:r>
              <a:r>
                <a:rPr lang="en-US" altLang="zh-CN" sz="2000"/>
                <a:t>,b1</a:t>
              </a:r>
              <a:r>
                <a:rPr lang="zh-CN" altLang="zh-CN" sz="2000"/>
                <a:t>是编码中的第</a:t>
              </a:r>
              <a:r>
                <a:rPr lang="en-US" altLang="zh-CN" sz="2000"/>
                <a:t>3</a:t>
              </a:r>
              <a:r>
                <a:rPr lang="zh-CN" altLang="zh-CN" sz="2000"/>
                <a:t>位</a:t>
              </a:r>
              <a:r>
                <a:rPr lang="en-US" altLang="zh-CN" sz="2000"/>
                <a:t>,b2</a:t>
              </a:r>
              <a:r>
                <a:rPr lang="zh-CN" altLang="zh-CN" sz="2000"/>
                <a:t>是编码中的第</a:t>
              </a:r>
              <a:r>
                <a:rPr lang="en-US" altLang="zh-CN" sz="2000"/>
                <a:t>4</a:t>
              </a:r>
              <a:r>
                <a:rPr lang="zh-CN" altLang="zh-CN" sz="2000"/>
                <a:t>位</a:t>
              </a:r>
              <a:r>
                <a:rPr lang="en-US" altLang="zh-CN" sz="2000"/>
                <a:t>,</a:t>
              </a:r>
              <a:r>
                <a:rPr lang="zh-CN" altLang="zh-CN" sz="2000"/>
                <a:t>这两位代表距离</a:t>
              </a:r>
              <a:r>
                <a:rPr lang="en-US" altLang="zh-CN" sz="2000"/>
                <a:t>,</a:t>
              </a:r>
              <a:r>
                <a:rPr lang="zh-CN" altLang="zh-CN" sz="2000"/>
                <a:t>把这两位二进制数转换为十进制数</a:t>
              </a:r>
              <a:r>
                <a:rPr lang="en-US" altLang="zh-CN" sz="2000"/>
                <a:t>,</a:t>
              </a:r>
              <a:r>
                <a:rPr lang="zh-CN" altLang="zh-CN" sz="2000"/>
                <a:t>可采用按权展开相加法</a:t>
              </a:r>
              <a:r>
                <a:rPr lang="en-US" altLang="zh-CN" sz="2000"/>
                <a:t>,</a:t>
              </a:r>
              <a:r>
                <a:rPr lang="zh-CN" altLang="zh-CN" sz="2000"/>
                <a:t>即</a:t>
              </a:r>
              <a:r>
                <a:rPr lang="en-US" altLang="zh-CN" sz="2000"/>
                <a:t>b1</a:t>
              </a:r>
              <a:r>
                <a:rPr lang="en-US" altLang="zh-CN" sz="2000" baseline="-25000"/>
                <a:t>*</a:t>
              </a:r>
              <a:r>
                <a:rPr lang="en-US" altLang="zh-CN" sz="2000"/>
                <a:t> 2+b2,</a:t>
              </a:r>
              <a:r>
                <a:rPr lang="zh-CN" altLang="zh-CN" sz="2000"/>
                <a:t>转换后的结果存入</a:t>
              </a:r>
              <a:r>
                <a:rPr lang="en-US" altLang="zh-CN" sz="2000"/>
                <a:t>v</a:t>
              </a:r>
              <a:r>
                <a:rPr lang="zh-CN" altLang="zh-CN" sz="2000"/>
                <a:t>中。每循环一次取</a:t>
              </a:r>
              <a:r>
                <a:rPr lang="en-US" altLang="zh-CN" sz="2000"/>
                <a:t>4</a:t>
              </a:r>
              <a:r>
                <a:rPr lang="zh-CN" altLang="zh-CN" sz="2000"/>
                <a:t>位</a:t>
              </a:r>
              <a:r>
                <a:rPr lang="en-US" altLang="zh-CN" sz="2000"/>
                <a:t>,</a:t>
              </a:r>
              <a:r>
                <a:rPr lang="zh-CN" altLang="zh-CN" sz="2000"/>
                <a:t>所以循环变量</a:t>
              </a:r>
              <a:r>
                <a:rPr lang="en-US" altLang="zh-CN" sz="2000"/>
                <a:t>i</a:t>
              </a:r>
              <a:r>
                <a:rPr lang="zh-CN" altLang="zh-CN" sz="2000"/>
                <a:t>每次加</a:t>
              </a:r>
              <a:r>
                <a:rPr lang="en-US" altLang="zh-CN" sz="2000"/>
                <a:t>4</a:t>
              </a:r>
              <a:r>
                <a:rPr lang="zh-CN" altLang="zh-CN" sz="2000"/>
                <a:t>。</a:t>
              </a:r>
              <a:endParaRPr lang="zh-CN" altLang="zh-CN" sz="20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nvGrpSpPr>
          <p:cNvPr id="24" name="组合 23"/>
          <p:cNvGrpSpPr/>
          <p:nvPr/>
        </p:nvGrpSpPr>
        <p:grpSpPr>
          <a:xfrm>
            <a:off x="251520" y="5517232"/>
            <a:ext cx="8640960" cy="1152128"/>
            <a:chOff x="251520" y="4752548"/>
            <a:chExt cx="8640960" cy="1152128"/>
          </a:xfrm>
        </p:grpSpPr>
        <p:grpSp>
          <p:nvGrpSpPr>
            <p:cNvPr id="25" name="组合 24"/>
            <p:cNvGrpSpPr/>
            <p:nvPr/>
          </p:nvGrpSpPr>
          <p:grpSpPr>
            <a:xfrm>
              <a:off x="251520" y="4752548"/>
              <a:ext cx="8640960" cy="1152128"/>
              <a:chOff x="251520" y="3755469"/>
              <a:chExt cx="8640960" cy="1152128"/>
            </a:xfrm>
          </p:grpSpPr>
          <p:sp>
            <p:nvSpPr>
              <p:cNvPr id="27" name="五边形 26"/>
              <p:cNvSpPr/>
              <p:nvPr/>
            </p:nvSpPr>
            <p:spPr>
              <a:xfrm>
                <a:off x="7812360" y="4619565"/>
                <a:ext cx="1080120" cy="288032"/>
              </a:xfrm>
              <a:prstGeom prst="homePlate">
                <a:avLst/>
              </a:prstGeom>
              <a:solidFill>
                <a:srgbClr val="E75E2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  答案</a:t>
                </a:r>
              </a:p>
            </p:txBody>
          </p:sp>
          <p:sp>
            <p:nvSpPr>
              <p:cNvPr id="28" name="五边形 27"/>
              <p:cNvSpPr/>
              <p:nvPr/>
            </p:nvSpPr>
            <p:spPr>
              <a:xfrm>
                <a:off x="6916239" y="4619565"/>
                <a:ext cx="1080120" cy="288032"/>
              </a:xfrm>
              <a:prstGeom prst="homePlate">
                <a:avLst/>
              </a:prstGeom>
              <a:solidFill>
                <a:srgbClr val="5FBA0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解析</a:t>
                </a:r>
              </a:p>
            </p:txBody>
          </p:sp>
          <p:sp>
            <p:nvSpPr>
              <p:cNvPr id="29" name="燕尾形 28"/>
              <p:cNvSpPr/>
              <p:nvPr/>
            </p:nvSpPr>
            <p:spPr>
              <a:xfrm>
                <a:off x="8038119" y="4696565"/>
                <a:ext cx="144016" cy="14401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矩形 29"/>
              <p:cNvSpPr/>
              <p:nvPr/>
            </p:nvSpPr>
            <p:spPr>
              <a:xfrm>
                <a:off x="251520" y="3755469"/>
                <a:ext cx="8640960" cy="836693"/>
              </a:xfrm>
              <a:prstGeom prst="rect">
                <a:avLst/>
              </a:prstGeom>
              <a:solidFill>
                <a:schemeClr val="bg1"/>
              </a:solidFill>
              <a:ln w="19050">
                <a:solidFill>
                  <a:srgbClr val="E75E2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48"/>
              <p:cNvSpPr txBox="1"/>
              <p:nvPr/>
            </p:nvSpPr>
            <p:spPr>
              <a:xfrm>
                <a:off x="8388424" y="3872081"/>
                <a:ext cx="492443" cy="276999"/>
              </a:xfrm>
              <a:prstGeom prst="rect">
                <a:avLst/>
              </a:prstGeom>
              <a:noFill/>
            </p:spPr>
            <p:txBody>
              <a:bodyPr wrap="none" rtlCol="0">
                <a:spAutoFit/>
              </a:bodyPr>
              <a:lstStyle/>
              <a:p>
                <a:r>
                  <a:rPr lang="zh-CN" altLang="en-US" sz="1200" dirty="0"/>
                  <a:t>关闭</a:t>
                </a:r>
              </a:p>
            </p:txBody>
          </p:sp>
        </p:grpSp>
        <p:sp>
          <p:nvSpPr>
            <p:cNvPr id="26" name="矩形 25"/>
            <p:cNvSpPr>
              <a:spLocks noChangeAspect="1"/>
            </p:cNvSpPr>
            <p:nvPr/>
          </p:nvSpPr>
          <p:spPr>
            <a:xfrm>
              <a:off x="539552" y="5009401"/>
              <a:ext cx="8064896" cy="400110"/>
            </a:xfrm>
            <a:prstGeom prst="rect">
              <a:avLst/>
            </a:prstGeom>
          </p:spPr>
          <p:txBody>
            <a:bodyPr wrap="square">
              <a:spAutoFit/>
            </a:bodyPr>
            <a:lstStyle/>
            <a:p>
              <a:r>
                <a:rPr lang="en-US" altLang="zh-CN" sz="2000"/>
                <a:t>(1)B</a:t>
              </a:r>
              <a:r>
                <a:rPr lang="zh-CN" altLang="zh-CN" sz="2000"/>
                <a:t>　</a:t>
              </a:r>
              <a:r>
                <a:rPr lang="en-US" altLang="zh-CN" sz="2000"/>
                <a:t>(2)①b1</a:t>
              </a:r>
              <a:r>
                <a:rPr lang="en-US" altLang="zh-CN" sz="2000" baseline="-25000"/>
                <a:t>*</a:t>
              </a:r>
              <a:r>
                <a:rPr lang="en-US" altLang="zh-CN" sz="2000"/>
                <a:t> 2+b2</a:t>
              </a:r>
              <a:r>
                <a:rPr lang="zh-CN" altLang="zh-CN" sz="2000"/>
                <a:t>　</a:t>
              </a:r>
              <a:r>
                <a:rPr lang="en-US" altLang="zh-CN" sz="2000"/>
                <a:t>②i=i+4</a:t>
              </a:r>
              <a:r>
                <a:rPr lang="zh-CN" altLang="zh-CN" sz="2000"/>
                <a:t>　</a:t>
              </a:r>
              <a:r>
                <a:rPr lang="en-US" altLang="zh-CN" sz="2000"/>
                <a:t>(3)</a:t>
              </a:r>
              <a:r>
                <a:rPr lang="zh-CN" altLang="zh-CN" sz="2000"/>
                <a:t>北</a:t>
              </a:r>
              <a:r>
                <a:rPr lang="en-US" altLang="zh-CN" sz="2000"/>
                <a:t>3</a:t>
              </a:r>
              <a:endParaRPr lang="zh-CN" altLang="zh-CN" sz="2000"/>
            </a:p>
          </p:txBody>
        </p:sp>
      </p:grpSp>
    </p:spTree>
    <p:extLst>
      <p:ext uri="{BB962C8B-B14F-4D97-AF65-F5344CB8AC3E}">
        <p14:creationId xmlns:p14="http://schemas.microsoft.com/office/powerpoint/2010/main" val="2024519455"/>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down)">
                                      <p:cBhvr>
                                        <p:cTn id="19" dur="500"/>
                                        <p:tgtEl>
                                          <p:spTgt spid="24"/>
                                        </p:tgtEl>
                                      </p:cBhvr>
                                    </p:animEffect>
                                  </p:child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24"/>
                    </p:tgtEl>
                  </p:cond>
                </p:stCondLst>
                <p:endSync evt="end" delay="0">
                  <p:rtn val="all"/>
                </p:endSync>
                <p:childTnLst>
                  <p:par>
                    <p:cTn id="21" fill="hold">
                      <p:stCondLst>
                        <p:cond delay="0"/>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24"/>
                                        </p:tgtEl>
                                      </p:cBhvr>
                                    </p:animEffect>
                                    <p:set>
                                      <p:cBhvr>
                                        <p:cTn id="25"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30</a:t>
            </a:fld>
            <a:r>
              <a:rPr lang="en-US" altLang="zh-CN"/>
              <a:t>-</a:t>
            </a:r>
            <a:endParaRPr lang="zh-CN" altLang="en-US" dirty="0"/>
          </a:p>
        </p:txBody>
      </p:sp>
      <p:sp>
        <p:nvSpPr>
          <p:cNvPr id="49" name="椭圆 48">
            <a:hlinkClick r:id="rId3"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4"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5"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6"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7"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8"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9"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10"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1" name="椭圆 10">
            <a:hlinkClick r:id="rId11" action="ppaction://hlinksldjump"/>
          </p:cNvPr>
          <p:cNvSpPr/>
          <p:nvPr/>
        </p:nvSpPr>
        <p:spPr>
          <a:xfrm>
            <a:off x="2977860"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9</a:t>
            </a:r>
            <a:endParaRPr lang="zh-CN" altLang="en-US" dirty="0"/>
          </a:p>
        </p:txBody>
      </p:sp>
      <p:sp>
        <p:nvSpPr>
          <p:cNvPr id="3" name="矩形 2"/>
          <p:cNvSpPr>
            <a:spLocks noChangeAspect="1"/>
          </p:cNvSpPr>
          <p:nvPr/>
        </p:nvSpPr>
        <p:spPr>
          <a:xfrm>
            <a:off x="508000" y="1474026"/>
            <a:ext cx="8128000" cy="496751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b="1">
                <a:solidFill>
                  <a:srgbClr val="000000"/>
                </a:solidFill>
                <a:latin typeface="Times New Roman" panose="02020603050405020304" pitchFamily="18" charset="0"/>
                <a:cs typeface="Times New Roman" panose="02020603050405020304" pitchFamily="18" charset="0"/>
              </a:rPr>
              <a:t>9</a:t>
            </a:r>
            <a:r>
              <a:rPr lang="en-US" altLang="zh-CN" sz="2200">
                <a:solidFill>
                  <a:srgbClr val="000000"/>
                </a:solidFill>
                <a:latin typeface="Times New Roman" panose="02020603050405020304" pitchFamily="18" charset="0"/>
                <a:cs typeface="Times New Roman" panose="02020603050405020304" pitchFamily="18" charset="0"/>
              </a:rPr>
              <a:t>.(2018·11</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浙江选考</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在平面坐标系中</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给定一组有序的点。从原点出发</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依次用线段连接这些点</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构成一条折线。要求编写一个</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计算折线长度</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的程序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功能如下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在文本框</a:t>
            </a:r>
            <a:r>
              <a:rPr lang="en-US" altLang="zh-CN" sz="2200">
                <a:solidFill>
                  <a:srgbClr val="000000"/>
                </a:solidFill>
                <a:latin typeface="Times New Roman" panose="02020603050405020304" pitchFamily="18" charset="0"/>
                <a:cs typeface="Times New Roman" panose="02020603050405020304" pitchFamily="18" charset="0"/>
              </a:rPr>
              <a:t>Text1</a:t>
            </a:r>
            <a:r>
              <a:rPr lang="zh-CN" altLang="zh-CN" sz="2200">
                <a:solidFill>
                  <a:srgbClr val="000000"/>
                </a:solidFill>
                <a:latin typeface="Times New Roman" panose="02020603050405020304" pitchFamily="18" charset="0"/>
                <a:cs typeface="Times New Roman" panose="02020603050405020304" pitchFamily="18" charset="0"/>
              </a:rPr>
              <a:t>中依次输入这些点的坐标值</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数据都用逗号分隔并以逗号结尾</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计算</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按钮</a:t>
            </a:r>
            <a:r>
              <a:rPr lang="en-US" altLang="zh-CN" sz="2200">
                <a:solidFill>
                  <a:srgbClr val="000000"/>
                </a:solidFill>
                <a:latin typeface="Times New Roman" panose="02020603050405020304" pitchFamily="18" charset="0"/>
                <a:cs typeface="Times New Roman" panose="02020603050405020304" pitchFamily="18" charset="0"/>
              </a:rPr>
              <a:t>Cmd</a:t>
            </a:r>
            <a:r>
              <a:rPr lang="zh-CN" altLang="zh-CN" sz="2200">
                <a:solidFill>
                  <a:srgbClr val="000000"/>
                </a:solidFill>
                <a:latin typeface="Times New Roman" panose="02020603050405020304" pitchFamily="18" charset="0"/>
                <a:cs typeface="Times New Roman" panose="02020603050405020304" pitchFamily="18" charset="0"/>
              </a:rPr>
              <a:t>后</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程序计算这条折线的长度</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结果显示在</a:t>
            </a:r>
            <a:r>
              <a:rPr lang="en-US" altLang="zh-CN" sz="2200">
                <a:solidFill>
                  <a:srgbClr val="000000"/>
                </a:solidFill>
                <a:latin typeface="Times New Roman" panose="02020603050405020304" pitchFamily="18" charset="0"/>
                <a:cs typeface="Times New Roman" panose="02020603050405020304" pitchFamily="18" charset="0"/>
              </a:rPr>
              <a:t>Label1</a:t>
            </a:r>
            <a:r>
              <a:rPr lang="zh-CN" altLang="zh-CN" sz="2200">
                <a:solidFill>
                  <a:srgbClr val="000000"/>
                </a:solidFill>
                <a:latin typeface="Times New Roman" panose="02020603050405020304" pitchFamily="18" charset="0"/>
                <a:cs typeface="Times New Roman" panose="02020603050405020304" pitchFamily="18" charset="0"/>
              </a:rPr>
              <a:t>中。例如</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三个点的坐标为</a:t>
            </a:r>
            <a:r>
              <a:rPr lang="en-US" altLang="zh-CN" sz="2200">
                <a:solidFill>
                  <a:srgbClr val="000000"/>
                </a:solidFill>
                <a:latin typeface="Times New Roman" panose="02020603050405020304" pitchFamily="18" charset="0"/>
                <a:cs typeface="Times New Roman" panose="02020603050405020304" pitchFamily="18" charset="0"/>
              </a:rPr>
              <a:t>(5,10)</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(8,12)</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(6,17)</a:t>
            </a:r>
            <a:r>
              <a:rPr lang="zh-CN" altLang="zh-CN" sz="2200">
                <a:solidFill>
                  <a:srgbClr val="000000"/>
                </a:solidFill>
                <a:latin typeface="Times New Roman" panose="02020603050405020304" pitchFamily="18" charset="0"/>
                <a:cs typeface="Times New Roman" panose="02020603050405020304" pitchFamily="18" charset="0"/>
              </a:rPr>
              <a:t>输入格式如图所示。</a:t>
            </a:r>
            <a:endParaRPr lang="en-US" altLang="zh-CN" sz="2200">
              <a:solidFill>
                <a:srgbClr val="000000"/>
              </a:solidFill>
              <a:latin typeface="Times New Roman" panose="02020603050405020304" pitchFamily="18" charset="0"/>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sz="2200">
              <a:solidFill>
                <a:srgbClr val="000000"/>
              </a:solidFill>
              <a:latin typeface="Times New Roman" panose="02020603050405020304" pitchFamily="18" charset="0"/>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sz="22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sz="22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(1)Cmd</a:t>
            </a:r>
            <a:r>
              <a:rPr lang="zh-CN" altLang="zh-CN" sz="2200">
                <a:solidFill>
                  <a:srgbClr val="000000"/>
                </a:solidFill>
                <a:latin typeface="Times New Roman" panose="02020603050405020304" pitchFamily="18" charset="0"/>
                <a:cs typeface="Times New Roman" panose="02020603050405020304" pitchFamily="18" charset="0"/>
              </a:rPr>
              <a:t>对象属于</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单选</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填字母</a:t>
            </a:r>
            <a:r>
              <a:rPr lang="en-US" altLang="zh-CN" sz="2200">
                <a:solidFill>
                  <a:srgbClr val="000000"/>
                </a:solidFill>
                <a:latin typeface="Times New Roman" panose="02020603050405020304" pitchFamily="18" charset="0"/>
                <a:cs typeface="Times New Roman" panose="02020603050405020304" pitchFamily="18" charset="0"/>
              </a:rPr>
              <a:t>:A.Form/B.Label/C.TextBox/D.CommandButton)</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41548360"/>
              </p:ext>
            </p:extLst>
          </p:nvPr>
        </p:nvGraphicFramePr>
        <p:xfrm>
          <a:off x="508000" y="4062253"/>
          <a:ext cx="8128000" cy="1384844"/>
        </p:xfrm>
        <a:graphic>
          <a:graphicData uri="http://schemas.openxmlformats.org/presentationml/2006/ole">
            <mc:AlternateContent xmlns:mc="http://schemas.openxmlformats.org/markup-compatibility/2006">
              <mc:Choice xmlns:v="urn:schemas-microsoft-com:vml" Requires="v">
                <p:oleObj spid="_x0000_s9225" name="文档" r:id="rId12" imgW="3847376" imgH="654934" progId="Word.Document.12">
                  <p:embed/>
                </p:oleObj>
              </mc:Choice>
              <mc:Fallback>
                <p:oleObj name="文档" r:id="rId12" imgW="3847376" imgH="654934" progId="Word.Document.12">
                  <p:embed/>
                  <p:pic>
                    <p:nvPicPr>
                      <p:cNvPr id="0" name=""/>
                      <p:cNvPicPr/>
                      <p:nvPr/>
                    </p:nvPicPr>
                    <p:blipFill>
                      <a:blip r:embed="rId13"/>
                      <a:stretch>
                        <a:fillRect/>
                      </a:stretch>
                    </p:blipFill>
                    <p:spPr>
                      <a:xfrm>
                        <a:off x="508000" y="4062253"/>
                        <a:ext cx="8128000" cy="1384844"/>
                      </a:xfrm>
                      <a:prstGeom prst="rect">
                        <a:avLst/>
                      </a:prstGeom>
                    </p:spPr>
                  </p:pic>
                </p:oleObj>
              </mc:Fallback>
            </mc:AlternateContent>
          </a:graphicData>
        </a:graphic>
      </p:graphicFrame>
    </p:spTree>
    <p:extLst>
      <p:ext uri="{BB962C8B-B14F-4D97-AF65-F5344CB8AC3E}">
        <p14:creationId xmlns:p14="http://schemas.microsoft.com/office/powerpoint/2010/main" val="3135400301"/>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31</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1" name="椭圆 10">
            <a:hlinkClick r:id="rId10" action="ppaction://hlinksldjump"/>
          </p:cNvPr>
          <p:cNvSpPr/>
          <p:nvPr/>
        </p:nvSpPr>
        <p:spPr>
          <a:xfrm>
            <a:off x="2977860"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9</a:t>
            </a:r>
            <a:endParaRPr lang="zh-CN" altLang="en-US" dirty="0"/>
          </a:p>
        </p:txBody>
      </p:sp>
      <p:sp>
        <p:nvSpPr>
          <p:cNvPr id="3" name="矩形 2"/>
          <p:cNvSpPr>
            <a:spLocks noChangeAspect="1"/>
          </p:cNvSpPr>
          <p:nvPr/>
        </p:nvSpPr>
        <p:spPr>
          <a:xfrm>
            <a:off x="508000" y="1431003"/>
            <a:ext cx="8128000" cy="52383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(2)</a:t>
            </a:r>
            <a:r>
              <a:rPr lang="zh-CN" altLang="zh-CN" sz="2200">
                <a:solidFill>
                  <a:srgbClr val="000000"/>
                </a:solidFill>
                <a:latin typeface="Times New Roman" panose="02020603050405020304" pitchFamily="18" charset="0"/>
                <a:cs typeface="Times New Roman" panose="02020603050405020304" pitchFamily="18" charset="0"/>
              </a:rPr>
              <a:t>实现上述功能的</a:t>
            </a:r>
            <a:r>
              <a:rPr lang="en-US" altLang="zh-CN" sz="2200">
                <a:solidFill>
                  <a:srgbClr val="000000"/>
                </a:solidFill>
                <a:latin typeface="Times New Roman" panose="02020603050405020304" pitchFamily="18" charset="0"/>
                <a:cs typeface="Times New Roman" panose="02020603050405020304" pitchFamily="18" charset="0"/>
              </a:rPr>
              <a:t>VB</a:t>
            </a:r>
            <a:r>
              <a:rPr lang="zh-CN" altLang="zh-CN" sz="2200">
                <a:solidFill>
                  <a:srgbClr val="000000"/>
                </a:solidFill>
                <a:latin typeface="Times New Roman" panose="02020603050405020304" pitchFamily="18" charset="0"/>
                <a:cs typeface="Times New Roman" panose="02020603050405020304" pitchFamily="18" charset="0"/>
              </a:rPr>
              <a:t>程序如下</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请在划线处填入合适代码。</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Private Sub Cmd_Click()</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i As Integer,j As Integer,k As Integer</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x1 As Single,y1 As Single,x2 As Single,y2 As Single</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Dim d As Single,Totald As Single,v As Single,s As String</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s=</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①</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x1=0:y1=0</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出发点为坐标原点</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k=1:j=1:Totald=0</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For i=1 To Len(s)</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Mid(s,i,1)=″,″Then</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v=Val(Mid(s,j,i-j))</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提取坐标值</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保存在变量</a:t>
            </a:r>
            <a:r>
              <a:rPr lang="en-US" altLang="zh-CN" sz="2200">
                <a:solidFill>
                  <a:srgbClr val="000000"/>
                </a:solidFill>
                <a:latin typeface="Times New Roman" panose="02020603050405020304" pitchFamily="18" charset="0"/>
                <a:cs typeface="Times New Roman" panose="02020603050405020304" pitchFamily="18" charset="0"/>
              </a:rPr>
              <a:t>v</a:t>
            </a:r>
            <a:r>
              <a:rPr lang="zh-CN" altLang="zh-CN" sz="2200">
                <a:solidFill>
                  <a:srgbClr val="000000"/>
                </a:solidFill>
                <a:latin typeface="Times New Roman" panose="02020603050405020304" pitchFamily="18" charset="0"/>
                <a:cs typeface="Times New Roman" panose="02020603050405020304" pitchFamily="18" charset="0"/>
              </a:rPr>
              <a:t>中</a:t>
            </a:r>
            <a:endParaRPr lang="en-US" altLang="zh-CN" sz="2200">
              <a:solidFill>
                <a:srgbClr val="000000"/>
              </a:solidFill>
              <a:latin typeface="Times New Roman" panose="02020603050405020304" pitchFamily="18" charset="0"/>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j=i+1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If </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②</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 Then </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20724680"/>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32</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1" name="椭圆 10">
            <a:hlinkClick r:id="rId10" action="ppaction://hlinksldjump"/>
          </p:cNvPr>
          <p:cNvSpPr/>
          <p:nvPr/>
        </p:nvSpPr>
        <p:spPr>
          <a:xfrm>
            <a:off x="2977860"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9</a:t>
            </a:r>
            <a:endParaRPr lang="zh-CN" altLang="en-US" dirty="0"/>
          </a:p>
        </p:txBody>
      </p:sp>
      <p:sp>
        <p:nvSpPr>
          <p:cNvPr id="3" name="矩形 2"/>
          <p:cNvSpPr>
            <a:spLocks noChangeAspect="1"/>
          </p:cNvSpPr>
          <p:nvPr/>
        </p:nvSpPr>
        <p:spPr>
          <a:xfrm>
            <a:off x="508000" y="1508293"/>
            <a:ext cx="8128000" cy="4967514"/>
          </a:xfrm>
          <a:prstGeom prst="rect">
            <a:avLst/>
          </a:prstGeom>
        </p:spPr>
        <p:txBody>
          <a:bodyPr>
            <a:spAutoFit/>
          </a:bodyPr>
          <a:lstStyle/>
          <a:p>
            <a:pPr>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x2=v</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Else</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y2=v</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d=Sqr((x2-x1)^2+(y2-y1)^2)</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Totald=Totald+d</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x1=x2:y1=y2</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k=k+1</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If</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Next i</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Label1.Caption=Str(Totald)</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End Sub</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(3)</a:t>
            </a:r>
            <a:r>
              <a:rPr lang="zh-CN" altLang="zh-CN" sz="2200">
                <a:solidFill>
                  <a:srgbClr val="000000"/>
                </a:solidFill>
                <a:latin typeface="Times New Roman" panose="02020603050405020304" pitchFamily="18" charset="0"/>
                <a:cs typeface="Times New Roman" panose="02020603050405020304" pitchFamily="18" charset="0"/>
              </a:rPr>
              <a:t>运行该程序</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输入数据如上图所示</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程序执行到循环结束时</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cs typeface="Times New Roman" panose="02020603050405020304" pitchFamily="18" charset="0"/>
              </a:rPr>
              <a:t>变量</a:t>
            </a:r>
            <a:r>
              <a:rPr lang="en-US" altLang="zh-CN" sz="2200">
                <a:solidFill>
                  <a:srgbClr val="000000"/>
                </a:solidFill>
                <a:latin typeface="Times New Roman" panose="02020603050405020304" pitchFamily="18" charset="0"/>
                <a:cs typeface="Times New Roman" panose="02020603050405020304" pitchFamily="18" charset="0"/>
              </a:rPr>
              <a:t>k</a:t>
            </a:r>
            <a:r>
              <a:rPr lang="zh-CN" altLang="zh-CN" sz="2200">
                <a:solidFill>
                  <a:srgbClr val="000000"/>
                </a:solidFill>
                <a:latin typeface="Times New Roman" panose="02020603050405020304" pitchFamily="18" charset="0"/>
                <a:cs typeface="Times New Roman" panose="02020603050405020304" pitchFamily="18" charset="0"/>
              </a:rPr>
              <a:t>为</a:t>
            </a:r>
            <a:r>
              <a:rPr lang="zh-CN" altLang="zh-CN" sz="2200" u="sng">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zh-CN" altLang="zh-CN" sz="2200">
                <a:solidFill>
                  <a:srgbClr val="000000"/>
                </a:solidFill>
                <a:latin typeface="Times New Roman" panose="02020603050405020304" pitchFamily="18" charset="0"/>
                <a:cs typeface="Times New Roman" panose="02020603050405020304" pitchFamily="18" charset="0"/>
              </a:rPr>
              <a:t>。</a:t>
            </a:r>
            <a:r>
              <a:rPr lang="en-US" altLang="zh-CN" sz="2200">
                <a:solidFill>
                  <a:srgbClr val="000000"/>
                </a:solidFill>
                <a:latin typeface="Times New Roman" panose="02020603050405020304" pitchFamily="18" charset="0"/>
                <a:cs typeface="Times New Roman" panose="02020603050405020304" pitchFamily="18" charset="0"/>
              </a:rPr>
              <a:t> </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1832857"/>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lgn="ctr"/>
            <a:r>
              <a:rPr lang="en-US" altLang="zh-CN"/>
              <a:t>-</a:t>
            </a:r>
            <a:fld id="{4BF17FCF-D4DA-449D-A468-DDB7E43619E6}" type="slidenum">
              <a:rPr lang="zh-CN" altLang="en-US" smtClean="0"/>
              <a:pPr algn="ctr"/>
              <a:t>33</a:t>
            </a:fld>
            <a:r>
              <a:rPr lang="en-US" altLang="zh-CN"/>
              <a:t>-</a:t>
            </a:r>
            <a:endParaRPr lang="zh-CN" altLang="en-US" dirty="0"/>
          </a:p>
        </p:txBody>
      </p:sp>
      <p:sp>
        <p:nvSpPr>
          <p:cNvPr id="49" name="椭圆 48">
            <a:hlinkClick r:id="rId2" action="ppaction://hlinksldjump"/>
          </p:cNvPr>
          <p:cNvSpPr/>
          <p:nvPr/>
        </p:nvSpPr>
        <p:spPr>
          <a:xfrm>
            <a:off x="39139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1</a:t>
            </a:r>
            <a:endParaRPr lang="zh-CN" altLang="en-US" dirty="0">
              <a:solidFill>
                <a:srgbClr val="CD242B"/>
              </a:solidFill>
            </a:endParaRPr>
          </a:p>
        </p:txBody>
      </p:sp>
      <p:sp>
        <p:nvSpPr>
          <p:cNvPr id="50" name="椭圆 49">
            <a:hlinkClick r:id="rId3" action="ppaction://hlinksldjump"/>
          </p:cNvPr>
          <p:cNvSpPr/>
          <p:nvPr/>
        </p:nvSpPr>
        <p:spPr>
          <a:xfrm>
            <a:off x="71470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2</a:t>
            </a:r>
            <a:endParaRPr lang="zh-CN" altLang="en-US" dirty="0">
              <a:solidFill>
                <a:srgbClr val="CD242B"/>
              </a:solidFill>
            </a:endParaRPr>
          </a:p>
        </p:txBody>
      </p:sp>
      <p:sp>
        <p:nvSpPr>
          <p:cNvPr id="51" name="椭圆 50">
            <a:hlinkClick r:id="rId4" action="ppaction://hlinksldjump"/>
          </p:cNvPr>
          <p:cNvSpPr/>
          <p:nvPr/>
        </p:nvSpPr>
        <p:spPr>
          <a:xfrm>
            <a:off x="103801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3</a:t>
            </a:r>
            <a:endParaRPr lang="zh-CN" altLang="en-US" dirty="0">
              <a:solidFill>
                <a:srgbClr val="CD242B"/>
              </a:solidFill>
            </a:endParaRPr>
          </a:p>
        </p:txBody>
      </p:sp>
      <p:sp>
        <p:nvSpPr>
          <p:cNvPr id="52" name="椭圆 51">
            <a:hlinkClick r:id="rId5" action="ppaction://hlinksldjump"/>
          </p:cNvPr>
          <p:cNvSpPr/>
          <p:nvPr/>
        </p:nvSpPr>
        <p:spPr>
          <a:xfrm>
            <a:off x="1361320"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4</a:t>
            </a:r>
            <a:endParaRPr lang="zh-CN" altLang="en-US" dirty="0">
              <a:solidFill>
                <a:srgbClr val="CD242B"/>
              </a:solidFill>
            </a:endParaRPr>
          </a:p>
        </p:txBody>
      </p:sp>
      <p:sp>
        <p:nvSpPr>
          <p:cNvPr id="53" name="椭圆 52">
            <a:hlinkClick r:id="rId6" action="ppaction://hlinksldjump"/>
          </p:cNvPr>
          <p:cNvSpPr/>
          <p:nvPr/>
        </p:nvSpPr>
        <p:spPr>
          <a:xfrm>
            <a:off x="1684628"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5</a:t>
            </a:r>
            <a:endParaRPr lang="zh-CN" altLang="en-US" dirty="0">
              <a:solidFill>
                <a:srgbClr val="CD242B"/>
              </a:solidFill>
            </a:endParaRPr>
          </a:p>
        </p:txBody>
      </p:sp>
      <p:sp>
        <p:nvSpPr>
          <p:cNvPr id="54" name="椭圆 53">
            <a:hlinkClick r:id="rId7" action="ppaction://hlinksldjump"/>
          </p:cNvPr>
          <p:cNvSpPr/>
          <p:nvPr/>
        </p:nvSpPr>
        <p:spPr>
          <a:xfrm>
            <a:off x="2007936"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6</a:t>
            </a:r>
            <a:endParaRPr lang="zh-CN" altLang="en-US" dirty="0">
              <a:solidFill>
                <a:srgbClr val="CD242B"/>
              </a:solidFill>
            </a:endParaRPr>
          </a:p>
        </p:txBody>
      </p:sp>
      <p:sp>
        <p:nvSpPr>
          <p:cNvPr id="55" name="椭圆 54">
            <a:hlinkClick r:id="rId8" action="ppaction://hlinksldjump"/>
          </p:cNvPr>
          <p:cNvSpPr/>
          <p:nvPr/>
        </p:nvSpPr>
        <p:spPr>
          <a:xfrm>
            <a:off x="2331244"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7</a:t>
            </a:r>
            <a:endParaRPr lang="zh-CN" altLang="en-US" dirty="0">
              <a:solidFill>
                <a:srgbClr val="CD242B"/>
              </a:solidFill>
            </a:endParaRPr>
          </a:p>
        </p:txBody>
      </p:sp>
      <p:sp>
        <p:nvSpPr>
          <p:cNvPr id="56" name="椭圆 55">
            <a:hlinkClick r:id="rId9" action="ppaction://hlinksldjump"/>
          </p:cNvPr>
          <p:cNvSpPr/>
          <p:nvPr/>
        </p:nvSpPr>
        <p:spPr>
          <a:xfrm>
            <a:off x="2654552" y="1058846"/>
            <a:ext cx="270000" cy="270000"/>
          </a:xfrm>
          <a:prstGeom prst="ellipse">
            <a:avLst/>
          </a:prstGeom>
          <a:solidFill>
            <a:srgbClr val="FFEDAB"/>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D242B"/>
                </a:solidFill>
              </a:rPr>
              <a:t>8</a:t>
            </a:r>
            <a:endParaRPr lang="zh-CN" altLang="en-US" dirty="0">
              <a:solidFill>
                <a:srgbClr val="CD242B"/>
              </a:solidFill>
            </a:endParaRPr>
          </a:p>
        </p:txBody>
      </p:sp>
      <p:sp>
        <p:nvSpPr>
          <p:cNvPr id="11" name="椭圆 10">
            <a:hlinkClick r:id="rId10" action="ppaction://hlinksldjump"/>
          </p:cNvPr>
          <p:cNvSpPr/>
          <p:nvPr/>
        </p:nvSpPr>
        <p:spPr>
          <a:xfrm>
            <a:off x="2977860" y="1058846"/>
            <a:ext cx="270000" cy="270000"/>
          </a:xfrm>
          <a:prstGeom prst="ellipse">
            <a:avLst/>
          </a:prstGeom>
          <a:solidFill>
            <a:srgbClr val="E2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9</a:t>
            </a:r>
            <a:endParaRPr lang="zh-CN" altLang="en-US" dirty="0"/>
          </a:p>
        </p:txBody>
      </p:sp>
      <p:sp>
        <p:nvSpPr>
          <p:cNvPr id="3" name="矩形 2"/>
          <p:cNvSpPr>
            <a:spLocks noChangeAspect="1"/>
          </p:cNvSpPr>
          <p:nvPr/>
        </p:nvSpPr>
        <p:spPr>
          <a:xfrm>
            <a:off x="508000" y="1484313"/>
            <a:ext cx="8128000" cy="4522392"/>
          </a:xfrm>
          <a:prstGeom prst="rect">
            <a:avLst/>
          </a:prstGeom>
        </p:spPr>
        <p:txBody>
          <a:bodyPr>
            <a:spAutoFit/>
          </a:bodyPr>
          <a:lstStyle/>
          <a:p>
            <a:pPr indent="2032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(1)D</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(2)</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①</a:t>
            </a:r>
            <a:r>
              <a:rPr lang="en-US" altLang="zh-CN" sz="2200">
                <a:solidFill>
                  <a:srgbClr val="000000"/>
                </a:solidFill>
                <a:latin typeface="Times New Roman" panose="02020603050405020304" pitchFamily="18" charset="0"/>
                <a:cs typeface="Times New Roman" panose="02020603050405020304" pitchFamily="18" charset="0"/>
              </a:rPr>
              <a:t>Text1.Text</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②k Mod 2=1</a:t>
            </a:r>
            <a:r>
              <a:rPr lang="zh-CN" altLang="zh-CN" sz="2200">
                <a:solidFill>
                  <a:srgbClr val="000000"/>
                </a:solidFill>
                <a:latin typeface="Times New Roman" panose="02020603050405020304" pitchFamily="18" charset="0"/>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(3)7</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03200">
              <a:lnSpc>
                <a:spcPct val="120000"/>
              </a:lnSpc>
              <a:spcAft>
                <a:spcPts val="0"/>
              </a:spcAft>
              <a:tabLst>
                <a:tab pos="1029335" algn="l"/>
                <a:tab pos="1850390" algn="l"/>
                <a:tab pos="2538095" algn="l"/>
                <a:tab pos="3221990" algn="l"/>
              </a:tabLst>
            </a:pPr>
            <a:r>
              <a:rPr lang="zh-CN"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200">
                <a:solidFill>
                  <a:srgbClr val="FF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200">
                <a:solidFill>
                  <a:srgbClr val="000000"/>
                </a:solidFill>
                <a:latin typeface="Times New Roman" panose="02020603050405020304" pitchFamily="18" charset="0"/>
                <a:cs typeface="Times New Roman" panose="02020603050405020304" pitchFamily="18" charset="0"/>
              </a:rPr>
              <a:t>(1)A.</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窗体</a:t>
            </a:r>
            <a:r>
              <a:rPr lang="en-US" altLang="zh-CN" sz="2200">
                <a:solidFill>
                  <a:srgbClr val="000000"/>
                </a:solidFill>
                <a:latin typeface="Times New Roman" panose="02020603050405020304" pitchFamily="18" charset="0"/>
                <a:cs typeface="Times New Roman" panose="02020603050405020304" pitchFamily="18" charset="0"/>
              </a:rPr>
              <a:t>/B.</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标签</a:t>
            </a:r>
            <a:r>
              <a:rPr lang="en-US" altLang="zh-CN" sz="2200">
                <a:solidFill>
                  <a:srgbClr val="000000"/>
                </a:solidFill>
                <a:latin typeface="Times New Roman" panose="02020603050405020304" pitchFamily="18" charset="0"/>
                <a:cs typeface="Times New Roman" panose="02020603050405020304" pitchFamily="18" charset="0"/>
              </a:rPr>
              <a:t>/C.</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文本框</a:t>
            </a:r>
            <a:r>
              <a:rPr lang="en-US" altLang="zh-CN" sz="2200">
                <a:solidFill>
                  <a:srgbClr val="000000"/>
                </a:solidFill>
                <a:latin typeface="Times New Roman" panose="02020603050405020304" pitchFamily="18" charset="0"/>
                <a:cs typeface="Times New Roman" panose="02020603050405020304" pitchFamily="18" charset="0"/>
              </a:rPr>
              <a:t>/D.</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按钮。</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032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(2)</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①</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根据下文可知变量</a:t>
            </a:r>
            <a:r>
              <a:rPr lang="en-US" altLang="zh-CN" sz="2200">
                <a:solidFill>
                  <a:srgbClr val="000000"/>
                </a:solidFill>
                <a:latin typeface="Times New Roman" panose="02020603050405020304" pitchFamily="18" charset="0"/>
                <a:cs typeface="Times New Roman" panose="02020603050405020304" pitchFamily="18" charset="0"/>
              </a:rPr>
              <a:t>s</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存储文本框输入的数据。</a:t>
            </a:r>
            <a:r>
              <a:rPr lang="en-US" altLang="zh-CN" sz="22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②</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遇到逗号</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代表一个数字的结束</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接下来根据该数字的起始位置提取数字</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并保存在变量</a:t>
            </a:r>
            <a:r>
              <a:rPr lang="en-US" altLang="zh-CN" sz="2200">
                <a:solidFill>
                  <a:srgbClr val="000000"/>
                </a:solidFill>
                <a:latin typeface="Times New Roman" panose="02020603050405020304" pitchFamily="18" charset="0"/>
                <a:cs typeface="Times New Roman" panose="02020603050405020304" pitchFamily="18" charset="0"/>
              </a:rPr>
              <a:t>v</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中。变量</a:t>
            </a:r>
            <a:r>
              <a:rPr lang="en-US" altLang="zh-CN" sz="2200">
                <a:solidFill>
                  <a:srgbClr val="000000"/>
                </a:solidFill>
                <a:latin typeface="Times New Roman" panose="02020603050405020304" pitchFamily="18" charset="0"/>
                <a:cs typeface="Times New Roman" panose="02020603050405020304" pitchFamily="18" charset="0"/>
              </a:rPr>
              <a:t>j</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用于存储每个数字的起始位置</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下一个数字起始位置为</a:t>
            </a:r>
            <a:r>
              <a:rPr lang="en-US" altLang="zh-CN" sz="2200">
                <a:solidFill>
                  <a:srgbClr val="000000"/>
                </a:solidFill>
                <a:latin typeface="Times New Roman" panose="02020603050405020304" pitchFamily="18" charset="0"/>
                <a:cs typeface="Times New Roman" panose="02020603050405020304" pitchFamily="18" charset="0"/>
              </a:rPr>
              <a:t>i+1</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。坐标</a:t>
            </a:r>
            <a:r>
              <a:rPr lang="en-US" altLang="zh-CN" sz="2200">
                <a:solidFill>
                  <a:srgbClr val="000000"/>
                </a:solidFill>
                <a:latin typeface="Times New Roman" panose="02020603050405020304" pitchFamily="18" charset="0"/>
                <a:cs typeface="Times New Roman" panose="02020603050405020304" pitchFamily="18" charset="0"/>
              </a:rPr>
              <a:t>(x,y)</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两个数字交替出现</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奇数位是</a:t>
            </a:r>
            <a:r>
              <a:rPr lang="en-US" altLang="zh-CN" sz="2200">
                <a:solidFill>
                  <a:srgbClr val="000000"/>
                </a:solidFill>
                <a:latin typeface="Times New Roman" panose="02020603050405020304" pitchFamily="18" charset="0"/>
                <a:cs typeface="Times New Roman" panose="02020603050405020304" pitchFamily="18" charset="0"/>
              </a:rPr>
              <a:t>x,</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偶数位是</a:t>
            </a:r>
            <a:r>
              <a:rPr lang="en-US" altLang="zh-CN" sz="2200">
                <a:solidFill>
                  <a:srgbClr val="000000"/>
                </a:solidFill>
                <a:latin typeface="Times New Roman" panose="02020603050405020304" pitchFamily="18" charset="0"/>
                <a:cs typeface="Times New Roman" panose="02020603050405020304" pitchFamily="18" charset="0"/>
              </a:rPr>
              <a:t>y</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。变量</a:t>
            </a:r>
            <a:r>
              <a:rPr lang="en-US" altLang="zh-CN" sz="2200">
                <a:solidFill>
                  <a:srgbClr val="000000"/>
                </a:solidFill>
                <a:latin typeface="Times New Roman" panose="02020603050405020304" pitchFamily="18" charset="0"/>
                <a:cs typeface="Times New Roman" panose="02020603050405020304" pitchFamily="18" charset="0"/>
              </a:rPr>
              <a:t>k</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记录第几个数字</a:t>
            </a:r>
            <a:r>
              <a:rPr lang="en-US" altLang="zh-CN" sz="2200">
                <a:solidFill>
                  <a:srgbClr val="000000"/>
                </a:solidFill>
                <a:latin typeface="Times New Roman" panose="02020603050405020304" pitchFamily="18" charset="0"/>
                <a:cs typeface="Times New Roman" panose="02020603050405020304" pitchFamily="18" charset="0"/>
              </a:rPr>
              <a:t>,k Mod 2=1</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成立代表奇数位。所以答案为</a:t>
            </a:r>
            <a:r>
              <a:rPr lang="en-US" altLang="zh-CN" sz="2200">
                <a:solidFill>
                  <a:srgbClr val="000000"/>
                </a:solidFill>
                <a:latin typeface="Times New Roman" panose="02020603050405020304" pitchFamily="18" charset="0"/>
                <a:cs typeface="Times New Roman" panose="02020603050405020304" pitchFamily="18" charset="0"/>
              </a:rPr>
              <a:t>k Mod 2=1</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。如果第偶数位</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则代表坐标</a:t>
            </a:r>
            <a:r>
              <a:rPr lang="en-US" altLang="zh-CN" sz="2200">
                <a:solidFill>
                  <a:srgbClr val="000000"/>
                </a:solidFill>
                <a:latin typeface="Times New Roman" panose="02020603050405020304" pitchFamily="18" charset="0"/>
                <a:cs typeface="Times New Roman" panose="02020603050405020304" pitchFamily="18" charset="0"/>
              </a:rPr>
              <a:t>(x,y)</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两个数字均提取完成</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计算距离</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并累加距离。</a:t>
            </a:r>
            <a:endParaRPr lang="zh-CN" altLang="zh-CN" sz="2200">
              <a:solidFill>
                <a:srgbClr val="000000"/>
              </a:solidFill>
              <a:latin typeface="NEU-BZ-S92"/>
              <a:ea typeface="方正书宋_GBK" panose="03000509000000000000" pitchFamily="65" charset="-122"/>
              <a:cs typeface="Times New Roman" panose="02020603050405020304" pitchFamily="18" charset="0"/>
            </a:endParaRPr>
          </a:p>
          <a:p>
            <a:pPr indent="203200">
              <a:lnSpc>
                <a:spcPct val="120000"/>
              </a:lnSpc>
              <a:spcAft>
                <a:spcPts val="0"/>
              </a:spcAft>
              <a:tabLst>
                <a:tab pos="1029335" algn="l"/>
                <a:tab pos="1850390" algn="l"/>
                <a:tab pos="2538095" algn="l"/>
                <a:tab pos="3221990" algn="l"/>
              </a:tabLst>
            </a:pPr>
            <a:r>
              <a:rPr lang="en-US" altLang="zh-CN" sz="2200">
                <a:solidFill>
                  <a:srgbClr val="000000"/>
                </a:solidFill>
                <a:latin typeface="Times New Roman" panose="02020603050405020304" pitchFamily="18" charset="0"/>
                <a:cs typeface="Times New Roman" panose="02020603050405020304" pitchFamily="18" charset="0"/>
              </a:rPr>
              <a:t>(3)</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遇到逗号</a:t>
            </a:r>
            <a:r>
              <a:rPr lang="en-US" altLang="zh-CN" sz="2200">
                <a:solidFill>
                  <a:srgbClr val="000000"/>
                </a:solidFill>
                <a:latin typeface="Times New Roman" panose="02020603050405020304" pitchFamily="18" charset="0"/>
                <a:cs typeface="Times New Roman" panose="02020603050405020304" pitchFamily="18" charset="0"/>
              </a:rPr>
              <a:t>,</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就会执行</a:t>
            </a:r>
            <a:r>
              <a:rPr lang="en-US" altLang="zh-CN" sz="2200">
                <a:solidFill>
                  <a:srgbClr val="000000"/>
                </a:solidFill>
                <a:latin typeface="Times New Roman" panose="02020603050405020304" pitchFamily="18" charset="0"/>
                <a:cs typeface="Times New Roman" panose="02020603050405020304" pitchFamily="18" charset="0"/>
              </a:rPr>
              <a:t>k=k+1,</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总共</a:t>
            </a:r>
            <a:r>
              <a:rPr lang="en-US" altLang="zh-CN" sz="2200">
                <a:solidFill>
                  <a:srgbClr val="000000"/>
                </a:solidFill>
                <a:latin typeface="Times New Roman" panose="02020603050405020304" pitchFamily="18" charset="0"/>
                <a:cs typeface="Times New Roman" panose="02020603050405020304" pitchFamily="18" charset="0"/>
              </a:rPr>
              <a:t>6</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个逗号</a:t>
            </a:r>
            <a:r>
              <a:rPr lang="en-US" altLang="zh-CN" sz="2200">
                <a:solidFill>
                  <a:srgbClr val="000000"/>
                </a:solidFill>
                <a:latin typeface="Times New Roman" panose="02020603050405020304" pitchFamily="18" charset="0"/>
                <a:cs typeface="Times New Roman" panose="02020603050405020304" pitchFamily="18" charset="0"/>
              </a:rPr>
              <a:t>,k</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的初值为</a:t>
            </a:r>
            <a:r>
              <a:rPr lang="en-US" altLang="zh-CN" sz="2200">
                <a:solidFill>
                  <a:srgbClr val="000000"/>
                </a:solidFill>
                <a:latin typeface="Times New Roman" panose="02020603050405020304" pitchFamily="18" charset="0"/>
                <a:cs typeface="Times New Roman" panose="02020603050405020304" pitchFamily="18" charset="0"/>
              </a:rPr>
              <a:t>1,</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最终变为</a:t>
            </a:r>
            <a:r>
              <a:rPr lang="en-US" altLang="zh-CN" sz="2200">
                <a:solidFill>
                  <a:srgbClr val="000000"/>
                </a:solidFill>
                <a:latin typeface="Times New Roman" panose="02020603050405020304" pitchFamily="18" charset="0"/>
                <a:cs typeface="Times New Roman" panose="02020603050405020304" pitchFamily="18" charset="0"/>
              </a:rPr>
              <a:t>7</a:t>
            </a:r>
            <a:r>
              <a:rPr lang="zh-CN" altLang="zh-CN" sz="22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2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90536721"/>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014高优二轮模板">
  <a:themeElements>
    <a:clrScheme name="自定义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FFFF0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2014高优二轮模板</Template>
  <TotalTime>494</TotalTime>
  <Words>4098</Words>
  <Application>Microsoft Macintosh PowerPoint</Application>
  <PresentationFormat>全屏显示(4:3)</PresentationFormat>
  <Paragraphs>533</Paragraphs>
  <Slides>33</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3" baseType="lpstr">
      <vt:lpstr>黑体</vt:lpstr>
      <vt:lpstr>宋体</vt:lpstr>
      <vt:lpstr>微软雅黑</vt:lpstr>
      <vt:lpstr>NEU-BZ</vt:lpstr>
      <vt:lpstr>NEU-BZ-S92</vt:lpstr>
      <vt:lpstr>Arial</vt:lpstr>
      <vt:lpstr>Calibri</vt:lpstr>
      <vt:lpstr>Times New Roman</vt:lpstr>
      <vt:lpstr>2014高优二轮模板</vt:lpstr>
      <vt:lpstr>文档</vt:lpstr>
      <vt:lpstr>VB复习6　解析、枚举算法           及其程序实现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语文</dc:title>
  <dc:creator>微软用户</dc:creator>
  <cp:lastModifiedBy>邱 曙逵</cp:lastModifiedBy>
  <cp:revision>153</cp:revision>
  <dcterms:created xsi:type="dcterms:W3CDTF">2014-12-26T08:25:58Z</dcterms:created>
  <dcterms:modified xsi:type="dcterms:W3CDTF">2020-03-12T02:46:22Z</dcterms:modified>
</cp:coreProperties>
</file>